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Konstanz_Logo_Minimum_sRG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483" y="594360"/>
            <a:ext cx="1786728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874519"/>
            <a:ext cx="99971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3400" b="0" i="0">
                <a:solidFill>
                  <a:srgbClr val="00539F"/>
                </a:solidFill>
                <a:latin typeface="Arial"/>
              </a:rPr>
              <a:t>Abstraction Mechanisms for Virtual Avatars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97480"/>
            <a:ext cx="99971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5A6570"/>
                </a:solidFill>
                <a:latin typeface="Arial"/>
              </a:rPr>
              <a:t>NPR across Avatar Platforms and its Effect on Perceived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20440"/>
            <a:ext cx="9997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900" b="0" i="0">
                <a:solidFill>
                  <a:srgbClr val="202428"/>
                </a:solidFill>
                <a:latin typeface="Arial"/>
              </a:rPr>
              <a:t>Nidanur Gunay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5A6570"/>
                </a:solidFill>
                <a:latin typeface="Arial"/>
              </a:rPr>
              <a:t>Master's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26280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5A6570"/>
                </a:solidFill>
                <a:latin typeface="Arial"/>
              </a:rPr>
              <a:t>First reviewer: Prof. Dr. Oliver Deussen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5A6570"/>
                </a:solidFill>
                <a:latin typeface="Arial"/>
              </a:rPr>
              <a:t>Second reviewer: Prof. Dr. Tiare Feuchtner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5A6570"/>
                </a:solidFill>
                <a:latin typeface="Arial"/>
              </a:rPr>
              <a:t>University of Konstanz,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0" i="0">
                <a:solidFill>
                  <a:srgbClr val="5A6570"/>
                </a:solidFill>
                <a:latin typeface="Arial"/>
              </a:rPr>
              <a:t>Already part of our daily lives, through VR and generative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1307592"/>
            <a:ext cx="8321040" cy="3977639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 w="19050">
            <a:solidFill>
              <a:srgbClr val="0053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 </a:t>
            </a:r>
          </a:p>
        </p:txBody>
      </p:sp>
      <p:sp>
        <p:nvSpPr>
          <p:cNvPr id="8" name="Oval 7"/>
          <p:cNvSpPr/>
          <p:nvPr/>
        </p:nvSpPr>
        <p:spPr>
          <a:xfrm>
            <a:off x="5705856" y="2770632"/>
            <a:ext cx="777240" cy="777240"/>
          </a:xfrm>
          <a:prstGeom prst="ellipse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 </a:t>
            </a:r>
          </a:p>
        </p:txBody>
      </p:sp>
      <p:sp>
        <p:nvSpPr>
          <p:cNvPr id="9" name="Isosceles Triangle 8"/>
          <p:cNvSpPr/>
          <p:nvPr/>
        </p:nvSpPr>
        <p:spPr>
          <a:xfrm rot="5400000">
            <a:off x="5971032" y="2980944"/>
            <a:ext cx="292608" cy="36576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822191"/>
            <a:ext cx="8321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00539F"/>
                </a:solidFill>
                <a:latin typeface="Arial"/>
              </a:rPr>
              <a:t>Virtual avatars in everyday use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00539F"/>
                </a:solidFill>
                <a:latin typeface="Arial"/>
              </a:rPr>
              <a:t>13 seconds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57784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00539F"/>
                </a:solidFill>
                <a:latin typeface="Arial"/>
              </a:rPr>
              <a:t>They present, they teach, they advise and they sell.</a:t>
            </a:r>
            <a:r>
              <a:rPr sz="1400" b="0" i="0">
                <a:solidFill>
                  <a:srgbClr val="202428"/>
                </a:solidFill>
                <a:latin typeface="Arial"/>
              </a:rPr>
              <a:t>   How they are drawn decides how much we believe them.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0167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900" b="0" i="0">
                <a:solidFill>
                  <a:srgbClr val="5A6570"/>
                </a:solidFill>
                <a:latin typeface="Arial"/>
              </a:rPr>
              <a:t>Clips: Lex Fridman Podcast #398  ·  Avaturn  ·  Apple Vision Pro Spatial Persona (YouTube).  Full credits at the 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0" i="0">
                <a:solidFill>
                  <a:srgbClr val="5A6570"/>
                </a:solidFill>
                <a:latin typeface="Arial"/>
              </a:rPr>
              <a:t>More human likeness is not always better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90472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sz="1500" b="0" i="0">
                <a:solidFill>
                  <a:srgbClr val="202428"/>
                </a:solidFill>
                <a:latin typeface="Arial"/>
              </a:rPr>
              <a:t>•  Comfort rises with </a:t>
            </a:r>
            <a:r>
              <a:rPr sz="1500" b="1" i="0">
                <a:solidFill>
                  <a:srgbClr val="00539F"/>
                </a:solidFill>
                <a:latin typeface="Arial"/>
              </a:rPr>
              <a:t>human likeness</a:t>
            </a:r>
            <a:r>
              <a:rPr sz="1500" b="0" i="0">
                <a:solidFill>
                  <a:srgbClr val="202428"/>
                </a:solidFill>
                <a:latin typeface="Arial"/>
              </a:rPr>
              <a:t>, but only up to a point</a:t>
            </a:r>
          </a:p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sz="1500" b="0" i="0">
                <a:solidFill>
                  <a:srgbClr val="202428"/>
                </a:solidFill>
                <a:latin typeface="Arial"/>
              </a:rPr>
              <a:t>•  Almost human, not quite: </a:t>
            </a:r>
            <a:r>
              <a:rPr sz="1500" b="1" i="0">
                <a:solidFill>
                  <a:srgbClr val="00539F"/>
                </a:solidFill>
                <a:latin typeface="Arial"/>
              </a:rPr>
              <a:t>creepy</a:t>
            </a:r>
            <a:r>
              <a:rPr sz="1500" b="0" i="0">
                <a:solidFill>
                  <a:srgbClr val="202428"/>
                </a:solidFill>
                <a:latin typeface="Arial"/>
              </a:rPr>
              <a:t> instead</a:t>
            </a:r>
          </a:p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sz="1500" b="0" i="0">
                <a:solidFill>
                  <a:srgbClr val="202428"/>
                </a:solidFill>
                <a:latin typeface="Arial"/>
              </a:rPr>
              <a:t>•  That dip: the </a:t>
            </a:r>
            <a:r>
              <a:rPr sz="1500" b="1" i="0">
                <a:solidFill>
                  <a:srgbClr val="00539F"/>
                </a:solidFill>
                <a:latin typeface="Arial"/>
              </a:rPr>
              <a:t>uncanny valley</a:t>
            </a:r>
            <a:r>
              <a:rPr sz="1500" b="0" i="0">
                <a:solidFill>
                  <a:srgbClr val="202428"/>
                </a:solidFill>
                <a:latin typeface="Arial"/>
              </a:rPr>
              <a:t> (Mori, humanoid robots)</a:t>
            </a:r>
          </a:p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sz="1500" b="0" i="0">
                <a:solidFill>
                  <a:srgbClr val="202428"/>
                </a:solidFill>
                <a:latin typeface="Arial"/>
              </a:rPr>
              <a:t>•  Later confirmed for </a:t>
            </a:r>
            <a:r>
              <a:rPr sz="1500" b="1" i="0">
                <a:solidFill>
                  <a:srgbClr val="00539F"/>
                </a:solidFill>
                <a:latin typeface="Arial"/>
              </a:rPr>
              <a:t>CG characters</a:t>
            </a:r>
          </a:p>
        </p:txBody>
      </p:sp>
      <p:pic>
        <p:nvPicPr>
          <p:cNvPr id="8" name="Picture 7" descr="uncanny_valley_mo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233" y="1170432"/>
            <a:ext cx="5416573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06440" y="54864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100" b="0" i="0">
                <a:solidFill>
                  <a:srgbClr val="5A6570"/>
                </a:solidFill>
                <a:latin typeface="Arial"/>
              </a:rPr>
              <a:t>The uncanny valley (Mori, 1970)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What this builds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0" i="0">
                <a:solidFill>
                  <a:srgbClr val="5A6570"/>
                </a:solidFill>
                <a:latin typeface="Arial"/>
              </a:rPr>
              <a:t>The problem is documented, the operators exist, the trust evidence disagrees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3576218" cy="379476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0539F"/>
                </a:solidFill>
                <a:latin typeface="Arial"/>
              </a:rPr>
              <a:t>The valley reaches avatars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02428"/>
                </a:solidFill>
                <a:latin typeface="Arial"/>
              </a:rPr>
              <a:t>Mori proposed the curve, MacDorman &amp; Ishiguro measured it.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02428"/>
                </a:solidFill>
                <a:latin typeface="Arial"/>
              </a:rPr>
              <a:t>McDonnell et al.: ten render styles, appeal and trust lowest in the middle. </a:t>
            </a:r>
            <a:r>
              <a:rPr sz="1100" b="1" i="0">
                <a:solidFill>
                  <a:srgbClr val="00539F"/>
                </a:solidFill>
                <a:latin typeface="Arial"/>
              </a:rPr>
              <a:t>Both ends are viable.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02428"/>
                </a:solidFill>
                <a:latin typeface="Arial"/>
              </a:rPr>
              <a:t>Dill et al.: it holds for CG film and game characters, worst at eyes and mouth.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02428"/>
                </a:solidFill>
                <a:latin typeface="Arial"/>
              </a:rPr>
              <a:t>Zell et al.: </a:t>
            </a:r>
            <a:r>
              <a:rPr sz="1100" b="1" i="0">
                <a:solidFill>
                  <a:srgbClr val="00539F"/>
                </a:solidFill>
                <a:latin typeface="Arial"/>
              </a:rPr>
              <a:t>material</a:t>
            </a:r>
            <a:r>
              <a:rPr sz="1100" b="0" i="0">
                <a:solidFill>
                  <a:srgbClr val="202428"/>
                </a:solidFill>
                <a:latin typeface="Arial"/>
              </a:rPr>
              <a:t> governs eeriness, and a mismatch with shape makes it worse.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738" y="1170432"/>
            <a:ext cx="3576218" cy="379476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0539F"/>
                </a:solidFill>
                <a:latin typeface="Arial"/>
              </a:rPr>
              <a:t>NPR supplies the operators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02428"/>
                </a:solidFill>
                <a:latin typeface="Arial"/>
              </a:rPr>
              <a:t>Toon shading (Lake), X-Toon (Barla et al.), inverted hull silhouette (Raskar &amp; Cohen), feature lines (Isenberg et al.).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02428"/>
                </a:solidFill>
                <a:latin typeface="Arial"/>
              </a:rPr>
              <a:t>Sobel and Gaussian prefiltering (Gonzalez &amp; Woods, Marr &amp; Hildreth), anisotropic Kuwahara (Kyprianidis et al.), layered edges (AHEAD).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02428"/>
                </a:solidFill>
                <a:latin typeface="Arial"/>
              </a:rPr>
              <a:t>All built on </a:t>
            </a:r>
            <a:r>
              <a:rPr sz="1100" b="1" i="0">
                <a:solidFill>
                  <a:srgbClr val="00539F"/>
                </a:solidFill>
                <a:latin typeface="Arial"/>
              </a:rPr>
              <a:t>images and generic shapes</a:t>
            </a:r>
            <a:r>
              <a:rPr sz="1100" b="0" i="0">
                <a:solidFill>
                  <a:srgbClr val="202428"/>
                </a:solidFill>
                <a:latin typeface="Arial"/>
              </a:rPr>
              <a:t>. Avatar studies varied coarse style levels, not named operators.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2556" y="1170432"/>
            <a:ext cx="3576218" cy="379476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0539F"/>
                </a:solidFill>
                <a:latin typeface="Arial"/>
              </a:rPr>
              <a:t>The trust evidence disagrees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02428"/>
                </a:solidFill>
                <a:latin typeface="Arial"/>
              </a:rPr>
              <a:t>Canales et al.: no trust penalty for stylisation, semi-realistic won the behavioural choice.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02428"/>
                </a:solidFill>
                <a:latin typeface="Arial"/>
              </a:rPr>
              <a:t>Dubosc et al.: stylised avatars rated significantly </a:t>
            </a:r>
            <a:r>
              <a:rPr sz="1100" b="1" i="0">
                <a:solidFill>
                  <a:srgbClr val="00539F"/>
                </a:solidFill>
                <a:latin typeface="Arial"/>
              </a:rPr>
              <a:t>less eerie</a:t>
            </a:r>
            <a:r>
              <a:rPr sz="1100" b="0" i="0">
                <a:solidFill>
                  <a:srgbClr val="202428"/>
                </a:solidFill>
                <a:latin typeface="Arial"/>
              </a:rPr>
              <a:t> in VR.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02428"/>
                </a:solidFill>
                <a:latin typeface="Arial"/>
              </a:rPr>
              <a:t>Tao et al., meta-analysis: high realism rated </a:t>
            </a:r>
            <a:r>
              <a:rPr sz="1100" b="1" i="0">
                <a:solidFill>
                  <a:srgbClr val="00539F"/>
                </a:solidFill>
                <a:latin typeface="Arial"/>
              </a:rPr>
              <a:t>more</a:t>
            </a:r>
            <a:r>
              <a:rPr sz="1100" b="0" i="0">
                <a:solidFill>
                  <a:srgbClr val="202428"/>
                </a:solidFill>
                <a:latin typeface="Arial"/>
              </a:rPr>
              <a:t> trustworthy.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02428"/>
                </a:solidFill>
                <a:latin typeface="Arial"/>
              </a:rPr>
              <a:t>Alipour et al., 53 studies: the eeriness-to-trust link is inconsistent.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02428"/>
                </a:solidFill>
                <a:latin typeface="Arial"/>
              </a:rPr>
              <a:t>Gao et al.: a real speaker beat a stylised agent on all three trust dimensions.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166360"/>
            <a:ext cx="11185855" cy="96012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/>
          <a:lstStyle/>
          <a:p>
            <a:pPr algn="ctr"/>
            <a:r>
              <a:rPr sz="1200" b="1" i="0">
                <a:solidFill>
                  <a:srgbClr val="00539F"/>
                </a:solidFill>
                <a:latin typeface="Arial"/>
              </a:rPr>
              <a:t>Three gaps follow, and they are the three research questions.  </a:t>
            </a:r>
            <a:r>
              <a:rPr sz="1200" b="1" i="0">
                <a:solidFill>
                  <a:srgbClr val="00539F"/>
                </a:solidFill>
                <a:latin typeface="Arial"/>
              </a:rPr>
              <a:t>(1)</a:t>
            </a:r>
            <a:r>
              <a:rPr sz="1200" b="0" i="0">
                <a:solidFill>
                  <a:srgbClr val="00539F"/>
                </a:solidFill>
                <a:latin typeface="Arial"/>
              </a:rPr>
              <a:t> Nobody has built one technique set across production avatar platforms that differ in rendering architecture.  </a:t>
            </a:r>
            <a:r>
              <a:rPr sz="1200" b="1" i="0">
                <a:solidFill>
                  <a:srgbClr val="00539F"/>
                </a:solidFill>
                <a:latin typeface="Arial"/>
              </a:rPr>
              <a:t>(2)</a:t>
            </a:r>
            <a:r>
              <a:rPr sz="1200" b="0" i="0">
                <a:solidFill>
                  <a:srgbClr val="00539F"/>
                </a:solidFill>
                <a:latin typeface="Arial"/>
              </a:rPr>
              <a:t> Which operator balances abstraction against facial legibility is unstudied.  </a:t>
            </a:r>
            <a:r>
              <a:rPr sz="1200" b="1" i="0">
                <a:solidFill>
                  <a:srgbClr val="00539F"/>
                </a:solidFill>
                <a:latin typeface="Arial"/>
              </a:rPr>
              <a:t>(3)</a:t>
            </a:r>
            <a:r>
              <a:rPr sz="1200" b="0" i="0">
                <a:solidFill>
                  <a:srgbClr val="00539F"/>
                </a:solidFill>
                <a:latin typeface="Arial"/>
              </a:rPr>
              <a:t> No study sets a real speaker, a photorealistic avatar of that speaker and an NPR version of that same avatar against one another.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Research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07592"/>
            <a:ext cx="11185855" cy="114300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/>
          <a:lstStyle/>
          <a:p>
            <a:pPr algn="ctr">
              <a:spcAft>
                <a:spcPts val="700"/>
              </a:spcAft>
            </a:pPr>
            <a:r>
              <a:rPr sz="1700" b="1" i="0">
                <a:solidFill>
                  <a:srgbClr val="00539F"/>
                </a:solidFill>
                <a:latin typeface="Arial"/>
              </a:rPr>
              <a:t>RQ1     </a:t>
            </a:r>
            <a:r>
              <a:rPr sz="1500" b="0" i="0">
                <a:solidFill>
                  <a:srgbClr val="5A6570"/>
                </a:solidFill>
                <a:latin typeface="Arial"/>
              </a:rPr>
              <a:t>Technical transfer</a:t>
            </a:r>
          </a:p>
          <a:p>
            <a:r>
              <a:rPr sz="1300" b="0" i="0">
                <a:solidFill>
                  <a:srgbClr val="202428"/>
                </a:solidFill>
                <a:latin typeface="Arial"/>
              </a:rPr>
              <a:t>How can NPR techniques be adapted to avatar platforms with different rendering architectures, and what does each platform allow or forbid?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724912"/>
            <a:ext cx="11185855" cy="114300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/>
          <a:lstStyle/>
          <a:p>
            <a:pPr algn="ctr">
              <a:spcAft>
                <a:spcPts val="700"/>
              </a:spcAft>
            </a:pPr>
            <a:r>
              <a:rPr sz="1700" b="1" i="0">
                <a:solidFill>
                  <a:srgbClr val="00539F"/>
                </a:solidFill>
                <a:latin typeface="Arial"/>
              </a:rPr>
              <a:t>RQ2     </a:t>
            </a:r>
            <a:r>
              <a:rPr sz="1500" b="0" i="0">
                <a:solidFill>
                  <a:srgbClr val="5A6570"/>
                </a:solidFill>
                <a:latin typeface="Arial"/>
              </a:rPr>
              <a:t>Technique selection</a:t>
            </a:r>
          </a:p>
          <a:p>
            <a:r>
              <a:rPr sz="1300" b="0" i="0">
                <a:solidFill>
                  <a:srgbClr val="202428"/>
                </a:solidFill>
                <a:latin typeface="Arial"/>
              </a:rPr>
              <a:t>Which technique or combination best balances visual abstraction against facial legibility?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142232"/>
            <a:ext cx="11185855" cy="114300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/>
          <a:lstStyle/>
          <a:p>
            <a:pPr algn="ctr">
              <a:spcAft>
                <a:spcPts val="700"/>
              </a:spcAft>
            </a:pPr>
            <a:r>
              <a:rPr sz="1700" b="1" i="0">
                <a:solidFill>
                  <a:srgbClr val="00539F"/>
                </a:solidFill>
                <a:latin typeface="Arial"/>
              </a:rPr>
              <a:t>RQ3     </a:t>
            </a:r>
            <a:r>
              <a:rPr sz="1500" b="0" i="0">
                <a:solidFill>
                  <a:srgbClr val="5A6570"/>
                </a:solidFill>
                <a:latin typeface="Arial"/>
              </a:rPr>
              <a:t>Perception</a:t>
            </a:r>
          </a:p>
          <a:p>
            <a:r>
              <a:rPr sz="1300" b="0" i="0">
                <a:solidFill>
                  <a:srgbClr val="202428"/>
                </a:solidFill>
                <a:latin typeface="Arial"/>
              </a:rPr>
              <a:t>How does NPR stylisation affect perceived eeriness and trustworthiness, and can a stylised avatar reach a photorealistic avatar and a real human speaker?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0644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0" i="0">
                <a:solidFill>
                  <a:srgbClr val="5A6570"/>
                </a:solidFill>
                <a:latin typeface="Arial"/>
              </a:rPr>
              <a:t>RQ1 and RQ2 are answered by the system. RQ3 is answered by the user study, which is where this talk spends most of its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What was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0" i="0">
                <a:solidFill>
                  <a:srgbClr val="5A6570"/>
                </a:solidFill>
                <a:latin typeface="Arial"/>
              </a:rPr>
              <a:t>Eight techniques, three platforms, one shader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70432"/>
          <a:ext cx="6675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931920"/>
              </a:tblGrid>
              <a:tr h="3454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Version</a:t>
                      </a:r>
                    </a:p>
                  </a:txBody>
                  <a:tcPr marL="73152" marT="18288" marB="18288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Limitation it answers</a:t>
                      </a:r>
                    </a:p>
                  </a:txBody>
                  <a:tcPr marL="73152" marT="18288" marB="18288">
                    <a:solidFill>
                      <a:srgbClr val="E8F0F8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V1   Silhouette outline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no shape cue at all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V2   Toon shading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continuous, unreadable lighting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V2.2 X-Toon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no control over abstraction level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V3   Normal edges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no interior structure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V4   Sobel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misses colour boundaries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V4.2 Gaussian Sobel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Sobel is noisy on photo texture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V5   Hierarchical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one cue is not enough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V6   Kuwahara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edges only, no painterly surface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43800" y="1170432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377440"/>
              </a:tblGrid>
              <a:tr h="3429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Platform</a:t>
                      </a:r>
                    </a:p>
                  </a:txBody>
                  <a:tcPr marL="73152" marT="18288" marB="18288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Access</a:t>
                      </a:r>
                    </a:p>
                  </a:txBody>
                  <a:tcPr marL="73152" marT="18288" marB="18288">
                    <a:solidFill>
                      <a:srgbClr val="E8F0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Mixamo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full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Avaturn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full, photo texture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Meta SDK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B3261E"/>
                          </a:solidFill>
                          <a:latin typeface="Arial"/>
                        </a:rPr>
                        <a:t>one fragment hook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43800" y="2788920"/>
            <a:ext cx="4114800" cy="114300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0539F"/>
                </a:solidFill>
                <a:latin typeface="Arial"/>
              </a:rPr>
              <a:t>Environment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Unity 2022.3 LTS, URP.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Meta Quest 3 target.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No extra render passes on the SDK.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34840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0" i="0">
                <a:solidFill>
                  <a:srgbClr val="5A6570"/>
                </a:solidFill>
                <a:latin typeface="Arial"/>
              </a:rPr>
              <a:t>Each version was motivated by a concrete failure of the one before it. All are switchable at runtime, without recompiling.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RQ1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0" i="0">
                <a:solidFill>
                  <a:srgbClr val="5A6570"/>
                </a:solidFill>
                <a:latin typeface="Arial"/>
              </a:rPr>
              <a:t>What transfers between pipelines, and what does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5410047" cy="141732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B7A43"/>
                </a:solidFill>
                <a:latin typeface="Arial"/>
              </a:rPr>
              <a:t>Transfers with retuning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Every technique ran on all three platforms.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Identical parameter values produced </a:t>
            </a:r>
            <a:r>
              <a:rPr sz="1200" b="1" i="0">
                <a:solidFill>
                  <a:srgbClr val="00539F"/>
                </a:solidFill>
                <a:latin typeface="Arial"/>
              </a:rPr>
              <a:t>visibly different</a:t>
            </a:r>
            <a:r>
              <a:rPr sz="1200" b="0" i="0">
                <a:solidFill>
                  <a:srgbClr val="202428"/>
                </a:solidFill>
                <a:latin typeface="Arial"/>
              </a:rPr>
              <a:t> output per host.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70632"/>
            <a:ext cx="5410047" cy="233172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B3261E"/>
                </a:solidFill>
                <a:latin typeface="Arial"/>
              </a:rPr>
              <a:t>Needs a substitute signal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Meta SDK gives one fragment hook, no depth or normal buffer, no second pass.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Hierarchical layer: camera-distance derivative </a:t>
            </a:r>
            <a:r>
              <a:rPr sz="1200" b="1" i="0">
                <a:solidFill>
                  <a:srgbClr val="00539F"/>
                </a:solidFill>
                <a:latin typeface="Arial"/>
              </a:rPr>
              <a:t>instead of</a:t>
            </a:r>
            <a:r>
              <a:rPr sz="1200" b="0" i="0">
                <a:solidFill>
                  <a:srgbClr val="202428"/>
                </a:solidFill>
                <a:latin typeface="Arial"/>
              </a:rPr>
              <a:t> a depth texture.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Kuwahara: loses its Gaussian smoothing entirely.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170432"/>
            <a:ext cx="5410047" cy="169164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0539F"/>
                </a:solidFill>
                <a:latin typeface="Arial"/>
              </a:rPr>
              <a:t>The dividing line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Not the technique's complexity, but whether it needs </a:t>
            </a:r>
            <a:r>
              <a:rPr sz="1200" b="1" i="0">
                <a:solidFill>
                  <a:srgbClr val="00539F"/>
                </a:solidFill>
                <a:latin typeface="Arial"/>
              </a:rPr>
              <a:t>new parameter values</a:t>
            </a:r>
            <a:r>
              <a:rPr sz="1200" b="0" i="0">
                <a:solidFill>
                  <a:srgbClr val="202428"/>
                </a:solidFill>
                <a:latin typeface="Arial"/>
              </a:rPr>
              <a:t> or a </a:t>
            </a:r>
            <a:r>
              <a:rPr sz="1200" b="1" i="0">
                <a:solidFill>
                  <a:srgbClr val="00539F"/>
                </a:solidFill>
                <a:latin typeface="Arial"/>
              </a:rPr>
              <a:t>new input signal</a:t>
            </a:r>
            <a:r>
              <a:rPr sz="1200" b="0" i="0">
                <a:solidFill>
                  <a:srgbClr val="202428"/>
                </a:solidFill>
                <a:latin typeface="Arial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New values: always possible.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New signal: only where the pipeline is open.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3090672"/>
            <a:ext cx="541004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0" i="0">
                <a:solidFill>
                  <a:srgbClr val="5A6570"/>
                </a:solidFill>
                <a:latin typeface="Arial"/>
              </a:rPr>
              <a:t>Avaturn was chosen for the study because it is the only platform with all three of: open URP shader access, full blendshape animation, and a photorealistic face rebuilt from photos of the real speaker.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The stimulus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0" i="0">
                <a:solidFill>
                  <a:srgbClr val="5A6570"/>
                </a:solidFill>
                <a:latin typeface="Arial"/>
              </a:rPr>
              <a:t>Same person, same animation, same voice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3545738" cy="384048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539F"/>
                </a:solidFill>
                <a:latin typeface="Arial"/>
              </a:rPr>
              <a:t>C1 - Real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978" y="1170432"/>
            <a:ext cx="3545738" cy="384048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539F"/>
                </a:solidFill>
                <a:latin typeface="Arial"/>
              </a:rPr>
              <a:t>C2 - Photorealistic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2978" y="5138928"/>
            <a:ext cx="35457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000" b="0" i="0">
                <a:solidFill>
                  <a:srgbClr val="5A6570"/>
                </a:solidFill>
                <a:latin typeface="Arial"/>
              </a:rPr>
              <a:t>Standard PBR, unmodified texture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170432"/>
            <a:ext cx="3545738" cy="384048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0539F"/>
                </a:solidFill>
                <a:latin typeface="Arial"/>
              </a:rPr>
              <a:t>C3 - NPR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3036" y="5138928"/>
            <a:ext cx="35457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000" b="0" i="0">
                <a:solidFill>
                  <a:srgbClr val="5A6570"/>
                </a:solidFill>
                <a:latin typeface="Arial"/>
              </a:rPr>
              <a:t>Outline + X-Toon + Sobel, preprocessed head texture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56232"/>
            <a:ext cx="354573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5A6570"/>
                </a:solidFill>
                <a:latin typeface="Arial"/>
              </a:rPr>
              <a:t>Video of the human speaker.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5A6570"/>
                </a:solidFill>
                <a:latin typeface="Arial"/>
              </a:rPr>
              <a:t>Ground-truth reference.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5A6570"/>
                </a:solidFill>
                <a:latin typeface="Arial"/>
              </a:rPr>
              <a:t>The Avaturn avatar was reconstructed from photographs of this same person.</a:t>
            </a:r>
          </a:p>
        </p:txBody>
      </p:sp>
      <p:pic>
        <p:nvPicPr>
          <p:cNvPr id="13" name="Picture 12" descr="c2_st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8" y="1881193"/>
            <a:ext cx="3545738" cy="2985884"/>
          </a:xfrm>
          <a:prstGeom prst="rect">
            <a:avLst/>
          </a:prstGeom>
        </p:spPr>
      </p:pic>
      <p:pic>
        <p:nvPicPr>
          <p:cNvPr id="14" name="Picture 13" descr="c3_st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036" y="1881193"/>
            <a:ext cx="3545738" cy="298588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5779007"/>
            <a:ext cx="11185855" cy="530352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54864"/>
          <a:lstStyle/>
          <a:p>
            <a:pPr algn="ctr"/>
            <a:r>
              <a:rPr sz="1200" b="1" i="0">
                <a:solidFill>
                  <a:srgbClr val="00539F"/>
                </a:solidFill>
                <a:latin typeface="Arial"/>
              </a:rPr>
              <a:t>Takeaway.  </a:t>
            </a:r>
            <a:r>
              <a:rPr sz="1200" b="0" i="0">
                <a:solidFill>
                  <a:srgbClr val="00539F"/>
                </a:solidFill>
                <a:latin typeface="Arial"/>
              </a:rPr>
              <a:t>C2 and C3 share identity, geometry, animation and voice. Only the rendering changes. That is the critical comparison.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Parameter adjustment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0" i="0">
                <a:solidFill>
                  <a:srgbClr val="5A6570"/>
                </a:solidFill>
                <a:latin typeface="Arial"/>
              </a:rPr>
              <a:t>The composite was chosen by people, not by eye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5852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00539F"/>
                </a:solidFill>
                <a:latin typeface="Arial"/>
              </a:rPr>
              <a:t>Design.</a:t>
            </a:r>
            <a:r>
              <a:rPr sz="1300" b="0" i="0">
                <a:solidFill>
                  <a:srgbClr val="202428"/>
                </a:solidFill>
                <a:latin typeface="Arial"/>
              </a:rPr>
              <a:t>  45 participants ranked rendered variants by </a:t>
            </a:r>
            <a:r>
              <a:rPr sz="1300" b="1" i="0">
                <a:solidFill>
                  <a:srgbClr val="00539F"/>
                </a:solidFill>
                <a:latin typeface="Arial"/>
              </a:rPr>
              <a:t>perceived trustworthiness</a:t>
            </a:r>
            <a:r>
              <a:rPr sz="1300" b="0" i="0">
                <a:solidFill>
                  <a:srgbClr val="202428"/>
                </a:solidFill>
                <a:latin typeface="Arial"/>
              </a:rPr>
              <a:t>. Five rounds, one parameter group each. Borda count, Friedman omnibus, Wilcoxon on the top pair.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221991"/>
          <a:ext cx="5852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63040"/>
                <a:gridCol w="2011680"/>
              </a:tblGrid>
              <a:tr h="3048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Round</a:t>
                      </a:r>
                    </a:p>
                  </a:txBody>
                  <a:tcPr marL="73152" marT="18288" marB="18288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Winner</a:t>
                      </a:r>
                    </a:p>
                  </a:txBody>
                  <a:tcPr marL="73152" marT="18288" marB="18288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Significant?</a:t>
                      </a:r>
                    </a:p>
                  </a:txBody>
                  <a:tcPr marL="73152" marT="18288" marB="18288">
                    <a:solidFill>
                      <a:srgbClr val="E8F0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R1  inner threshold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0.03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no (p = .31)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R2  outline width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0.003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no (p = .82)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R3  shadow / bias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0.5 / 1.0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no (p = .53)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02428"/>
                          </a:solidFill>
                          <a:latin typeface="Arial"/>
                        </a:rPr>
                        <a:t>R4  Kuwahara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B3261E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B7A43"/>
                          </a:solidFill>
                          <a:latin typeface="Arial"/>
                        </a:rPr>
                        <a:t>yes (p = .003)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02428"/>
                          </a:solidFill>
                          <a:latin typeface="Arial"/>
                        </a:rPr>
                        <a:t>R5  Hierarchical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B3261E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B7A43"/>
                          </a:solidFill>
                          <a:latin typeface="Arial"/>
                        </a:rPr>
                        <a:t>yes (p &lt; .001)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233672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0" i="0">
                <a:solidFill>
                  <a:srgbClr val="5A6570"/>
                </a:solidFill>
                <a:latin typeface="Arial"/>
              </a:rPr>
              <a:t>R1 and R3 were settled by a separate visual appeal question.</a:t>
            </a:r>
          </a:p>
        </p:txBody>
      </p:sp>
      <p:pic>
        <p:nvPicPr>
          <p:cNvPr id="10" name="Picture 9" descr="prestudy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514778"/>
            <a:ext cx="4937760" cy="296890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5779007"/>
            <a:ext cx="11185855" cy="530352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54864"/>
          <a:lstStyle/>
          <a:p>
            <a:pPr algn="ctr"/>
            <a:r>
              <a:rPr sz="1100" b="1" i="0">
                <a:solidFill>
                  <a:srgbClr val="00539F"/>
                </a:solidFill>
                <a:latin typeface="Arial"/>
              </a:rPr>
              <a:t>Takeaway.  </a:t>
            </a:r>
            <a:r>
              <a:rPr sz="1100" b="0" i="0">
                <a:solidFill>
                  <a:srgbClr val="00539F"/>
                </a:solidFill>
                <a:latin typeface="Arial"/>
              </a:rPr>
              <a:t>Participants significantly preferred no post-processing. Kuwahara and the hierarchical layer were both removed. RQ2's answer is a three-part composite plus head texture preprocessing.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Main user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0" i="0">
                <a:solidFill>
                  <a:srgbClr val="5A6570"/>
                </a:solidFill>
                <a:latin typeface="Arial"/>
              </a:rPr>
              <a:t>Within-subjects, video based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5852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300"/>
              </a:spcAft>
            </a:pPr>
            <a:r>
              <a:rPr sz="1300" b="1" i="0">
                <a:solidFill>
                  <a:srgbClr val="00539F"/>
                </a:solidFill>
                <a:latin typeface="Arial"/>
              </a:rPr>
              <a:t>Task.</a:t>
            </a:r>
            <a:r>
              <a:rPr sz="1300" b="0" i="0">
                <a:solidFill>
                  <a:srgbClr val="202428"/>
                </a:solidFill>
                <a:latin typeface="Arial"/>
              </a:rPr>
              <a:t> Read a decision vignette, watch an advisor recommend one option, then rate the advisor. Three times, once per condition.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</a:pPr>
            <a:r>
              <a:rPr sz="1300" b="1" i="0">
                <a:solidFill>
                  <a:srgbClr val="00539F"/>
                </a:solidFill>
                <a:latin typeface="Arial"/>
              </a:rPr>
              <a:t>Scenarios.</a:t>
            </a:r>
            <a:r>
              <a:rPr sz="1300" b="0" i="0">
                <a:solidFill>
                  <a:srgbClr val="202428"/>
                </a:solidFill>
                <a:latin typeface="Arial"/>
              </a:rPr>
              <a:t> Career choice, travel route, learning resource. Each targets a different trust dimension. Recommended option and discussion order alternate.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</a:pPr>
            <a:r>
              <a:rPr sz="1300" b="1" i="0">
                <a:solidFill>
                  <a:srgbClr val="00539F"/>
                </a:solidFill>
                <a:latin typeface="Arial"/>
              </a:rPr>
              <a:t>Counterbalancing.</a:t>
            </a:r>
            <a:r>
              <a:rPr sz="1300" b="0" i="0">
                <a:solidFill>
                  <a:srgbClr val="202428"/>
                </a:solidFill>
                <a:latin typeface="Arial"/>
              </a:rPr>
              <a:t> 3 x 3 Latin square, three study versions.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</a:pPr>
            <a:r>
              <a:rPr sz="1300" b="1" i="0">
                <a:solidFill>
                  <a:srgbClr val="00539F"/>
                </a:solidFill>
                <a:latin typeface="Arial"/>
              </a:rPr>
              <a:t>Sample.</a:t>
            </a:r>
            <a:r>
              <a:rPr sz="1300" b="0" i="0">
                <a:solidFill>
                  <a:srgbClr val="202428"/>
                </a:solidFill>
                <a:latin typeface="Arial"/>
              </a:rPr>
              <a:t> 52 enrolled, 11 excluded on gating checks, </a:t>
            </a:r>
            <a:r>
              <a:rPr sz="1300" b="1" i="0">
                <a:solidFill>
                  <a:srgbClr val="00539F"/>
                </a:solidFill>
                <a:latin typeface="Arial"/>
              </a:rPr>
              <a:t>n = 41</a:t>
            </a:r>
            <a:r>
              <a:rPr sz="1300" b="0" i="0">
                <a:solidFill>
                  <a:srgbClr val="202428"/>
                </a:solidFill>
                <a:latin typeface="Arial"/>
              </a:rPr>
              <a:t> complete. Age M = 27.6 (SD = 5.4); 23 women, 17 men, 1 non-binary.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17043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0" i="0">
                <a:solidFill>
                  <a:srgbClr val="00539F"/>
                </a:solidFill>
                <a:latin typeface="Arial"/>
              </a:rPr>
              <a:t>Measures per video block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20840" y="1490472"/>
          <a:ext cx="4937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194560"/>
                <a:gridCol w="1005840"/>
              </a:tblGrid>
              <a:tr h="3048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Subscale</a:t>
                      </a:r>
                    </a:p>
                  </a:txBody>
                  <a:tcPr marL="73152" marT="18288" marB="18288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73152" marT="18288" marB="18288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alpha</a:t>
                      </a:r>
                    </a:p>
                  </a:txBody>
                  <a:tcPr marL="73152" marT="18288" marB="18288">
                    <a:solidFill>
                      <a:srgbClr val="E8F0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Likeability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Godspeed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.94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Eeriness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Ho &amp; MacDorman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.87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Ability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Mayer et al.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.96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Benevolence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Mayer et al.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.95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Integrity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Mayer et al.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.92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720840" y="3502152"/>
            <a:ext cx="4937760" cy="123444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0539F"/>
                </a:solidFill>
                <a:latin typeface="Arial"/>
              </a:rPr>
              <a:t>After all three blocks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Forced ranking: who would you consult, who is most trustworthy, who is least unsettling.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487375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0" i="0">
                <a:solidFill>
                  <a:srgbClr val="5A6570"/>
                </a:solidFill>
                <a:latin typeface="Arial"/>
              </a:rPr>
              <a:t>All subscales exceeded alpha = .70 overall and within every condition.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Four hypotheses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61872"/>
          <a:ext cx="1118311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6766560"/>
                <a:gridCol w="3685032"/>
              </a:tblGrid>
              <a:tr h="6035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539F"/>
                          </a:solidFill>
                          <a:latin typeface="Arial"/>
                        </a:rPr>
                        <a:t> </a:t>
                      </a:r>
                    </a:p>
                  </a:txBody>
                  <a:tcPr marL="91440" marT="45720" marB="4572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539F"/>
                          </a:solidFill>
                          <a:latin typeface="Arial"/>
                        </a:rPr>
                        <a:t>Prediction</a:t>
                      </a:r>
                    </a:p>
                  </a:txBody>
                  <a:tcPr marL="91440" marT="45720" marB="4572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539F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91440" marT="45720" marB="45720">
                    <a:solidFill>
                      <a:srgbClr val="E8F0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539F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428"/>
                          </a:solidFill>
                          <a:latin typeface="Arial"/>
                        </a:rPr>
                        <a:t>NPR (C3) is rated less eerie than the photorealistic avatar (C2).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428"/>
                          </a:solidFill>
                          <a:latin typeface="Arial"/>
                        </a:rPr>
                        <a:t>RM-ANOVA, Holm pairwise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539F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428"/>
                          </a:solidFill>
                          <a:latin typeface="Arial"/>
                        </a:rPr>
                        <a:t>NPR (C3) does not cost trust relative to C2.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428"/>
                          </a:solidFill>
                          <a:latin typeface="Arial"/>
                        </a:rPr>
                        <a:t>Pairwise plus TOST equivalence, d = 0.3 bound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539F"/>
                          </a:solidFill>
                          <a:latin typeface="Arial"/>
                        </a:rPr>
                        <a:t>H3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428"/>
                          </a:solidFill>
                          <a:latin typeface="Arial"/>
                        </a:rPr>
                        <a:t>Eeriness lowers trust and likeability raises it, within each participant.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428"/>
                          </a:solidFill>
                          <a:latin typeface="Arial"/>
                        </a:rPr>
                        <a:t>Person-centred multilevel regression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539F"/>
                          </a:solidFill>
                          <a:latin typeface="Arial"/>
                        </a:rPr>
                        <a:t>H4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428"/>
                          </a:solidFill>
                          <a:latin typeface="Arial"/>
                        </a:rPr>
                        <a:t>NPR (C3) does not cost trust relative to the real speaker (C1).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428"/>
                          </a:solidFill>
                          <a:latin typeface="Arial"/>
                        </a:rPr>
                        <a:t>Same as H2, against C1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846320"/>
            <a:ext cx="11185855" cy="96012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0539F"/>
                </a:solidFill>
                <a:latin typeface="Arial"/>
              </a:rPr>
              <a:t/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2428"/>
                </a:solidFill>
                <a:latin typeface="Arial"/>
              </a:rPr>
              <a:t>H2 and H4 predict a </a:t>
            </a:r>
            <a:r>
              <a:rPr sz="1300" b="1" i="0">
                <a:solidFill>
                  <a:srgbClr val="00539F"/>
                </a:solidFill>
                <a:latin typeface="Arial"/>
              </a:rPr>
              <a:t>null</a:t>
            </a:r>
            <a:r>
              <a:rPr sz="1300" b="0" i="0">
                <a:solidFill>
                  <a:srgbClr val="202428"/>
                </a:solidFill>
                <a:latin typeface="Arial"/>
              </a:rPr>
              <a:t>. A non-significant p is not evidence of equivalence, so both also carry a pre-specified TOST equivalence test.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Manipulation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0" i="0">
                <a:solidFill>
                  <a:srgbClr val="5A6570"/>
                </a:solidFill>
                <a:latin typeface="Arial"/>
              </a:rPr>
              <a:t>Did participants actually see a difference?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12</a:t>
            </a:r>
          </a:p>
        </p:txBody>
      </p:sp>
      <p:pic>
        <p:nvPicPr>
          <p:cNvPr id="7" name="Picture 6" descr="fig_manipulation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256" y="1170432"/>
            <a:ext cx="4317087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1307592"/>
            <a:ext cx="5806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0" i="0">
                <a:solidFill>
                  <a:srgbClr val="202428"/>
                </a:solidFill>
                <a:latin typeface="Arial"/>
              </a:rPr>
              <a:t>Part H asked how stylised each advisor looked, from 1 (completely realistic) to 7 (very stylised).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52160" y="2130552"/>
          <a:ext cx="5806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16052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Omnibus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F(2,80) = 15.45,  p &lt; .001,  eta2p = .28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C1 vs C2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p = .001,  g = 0.87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C1 vs C3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p &lt; .001,  g = 1.23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B7A43"/>
                          </a:solidFill>
                          <a:latin typeface="Arial"/>
                        </a:rPr>
                        <a:t>C2 vs C3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B7A43"/>
                          </a:solidFill>
                          <a:latin typeface="Arial"/>
                        </a:rPr>
                        <a:t>p = .004,  g = 0.55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52160" y="3776472"/>
            <a:ext cx="5806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0" i="0">
                <a:solidFill>
                  <a:srgbClr val="202428"/>
                </a:solidFill>
                <a:latin typeface="Arial"/>
              </a:rPr>
              <a:t>Ratings rise monotonically from Real to Photorealistic to NPR. All three conditions separate.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779007"/>
            <a:ext cx="11185855" cy="530352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54864"/>
          <a:lstStyle/>
          <a:p>
            <a:pPr algn="ctr"/>
            <a:r>
              <a:rPr sz="1200" b="1" i="0">
                <a:solidFill>
                  <a:srgbClr val="00539F"/>
                </a:solidFill>
                <a:latin typeface="Arial"/>
              </a:rPr>
              <a:t>Takeaway.  </a:t>
            </a:r>
            <a:r>
              <a:rPr sz="1200" b="0" i="0">
                <a:solidFill>
                  <a:srgbClr val="00539F"/>
                </a:solidFill>
                <a:latin typeface="Arial"/>
              </a:rPr>
              <a:t>The manipulation worked. No null result below can be blamed on participants not noticing the rendering.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All five subscales at once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13</a:t>
            </a:r>
          </a:p>
        </p:txBody>
      </p:sp>
      <p:pic>
        <p:nvPicPr>
          <p:cNvPr id="6" name="Picture 5" descr="fig_subscale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238" y="1124712"/>
            <a:ext cx="6407218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623560"/>
            <a:ext cx="5410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0" i="0">
                <a:solidFill>
                  <a:srgbClr val="00539F"/>
                </a:solidFill>
                <a:latin typeface="Arial"/>
              </a:rPr>
              <a:t>The real speaker separates from both avatars on every subscale.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7" y="5623560"/>
            <a:ext cx="5410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0" i="0">
                <a:solidFill>
                  <a:srgbClr val="00539F"/>
                </a:solidFill>
                <a:latin typeface="Arial"/>
              </a:rPr>
              <a:t>The two avatars separate from each other on none of them.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H1 - Does NPR reduce eeriness?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70432"/>
          <a:ext cx="64008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645920"/>
                <a:gridCol w="1645920"/>
              </a:tblGrid>
              <a:tr h="3352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539F"/>
                          </a:solidFill>
                          <a:latin typeface="Arial"/>
                        </a:rPr>
                        <a:t>Eeriness</a:t>
                      </a:r>
                    </a:p>
                  </a:txBody>
                  <a:tcPr marL="73152" marT="27432" marB="2743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539F"/>
                          </a:solidFill>
                          <a:latin typeface="Arial"/>
                        </a:rPr>
                        <a:t>C1 vs C2</a:t>
                      </a:r>
                    </a:p>
                  </a:txBody>
                  <a:tcPr marL="73152" marT="27432" marB="2743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539F"/>
                          </a:solidFill>
                          <a:latin typeface="Arial"/>
                        </a:rPr>
                        <a:t>C1 vs C3</a:t>
                      </a:r>
                    </a:p>
                  </a:txBody>
                  <a:tcPr marL="73152" marT="27432" marB="2743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539F"/>
                          </a:solidFill>
                          <a:latin typeface="Arial"/>
                        </a:rPr>
                        <a:t>C2 vs C3</a:t>
                      </a:r>
                    </a:p>
                  </a:txBody>
                  <a:tcPr marL="73152" marT="27432" marB="27432">
                    <a:solidFill>
                      <a:srgbClr val="E8F0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428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428"/>
                          </a:solidFill>
                          <a:latin typeface="Arial"/>
                        </a:rPr>
                        <a:t>&lt; .001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428"/>
                          </a:solidFill>
                          <a:latin typeface="Arial"/>
                        </a:rPr>
                        <a:t>&lt; .001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B3261E"/>
                          </a:solidFill>
                          <a:latin typeface="Arial"/>
                        </a:rPr>
                        <a:t>.66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428"/>
                          </a:solidFill>
                          <a:latin typeface="Arial"/>
                        </a:rPr>
                        <a:t>g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428"/>
                          </a:solidFill>
                          <a:latin typeface="Arial"/>
                        </a:rPr>
                        <a:t>0.98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02428"/>
                          </a:solidFill>
                          <a:latin typeface="Arial"/>
                        </a:rPr>
                        <a:t>0.98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B3261E"/>
                          </a:solidFill>
                          <a:latin typeface="Arial"/>
                        </a:rPr>
                        <a:t>0.07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231343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0" i="0">
                <a:solidFill>
                  <a:srgbClr val="5A6570"/>
                </a:solidFill>
                <a:latin typeface="Arial"/>
              </a:rPr>
              <a:t>Omnibus: F(2,80) = 20.39, p &lt; .001, eta2p = .34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70632"/>
            <a:ext cx="6400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400" b="0" i="0">
                <a:solidFill>
                  <a:srgbClr val="202428"/>
                </a:solidFill>
                <a:latin typeface="Arial"/>
              </a:rPr>
              <a:t>•  Eeriness rose from C1 to C2 to C3, the </a:t>
            </a:r>
            <a:r>
              <a:rPr sz="1400" b="1" i="0">
                <a:solidFill>
                  <a:srgbClr val="00539F"/>
                </a:solidFill>
                <a:latin typeface="Arial"/>
              </a:rPr>
              <a:t>opposite</a:t>
            </a:r>
            <a:r>
              <a:rPr sz="1400" b="0" i="0">
                <a:solidFill>
                  <a:srgbClr val="202428"/>
                </a:solidFill>
                <a:latin typeface="Arial"/>
              </a:rPr>
              <a:t> of the prediction.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400" b="0" i="0">
                <a:solidFill>
                  <a:srgbClr val="202428"/>
                </a:solidFill>
                <a:latin typeface="Arial"/>
              </a:rPr>
              <a:t>•  The real speaker differed from both avatars.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400" b="0" i="0">
                <a:solidFill>
                  <a:srgbClr val="202428"/>
                </a:solidFill>
                <a:latin typeface="Arial"/>
              </a:rPr>
              <a:t>•  The two avatars were </a:t>
            </a:r>
            <a:r>
              <a:rPr sz="1400" b="1" i="0">
                <a:solidFill>
                  <a:srgbClr val="00539F"/>
                </a:solidFill>
                <a:latin typeface="Arial"/>
              </a:rPr>
              <a:t>statistically indistinguishable</a:t>
            </a:r>
            <a:r>
              <a:rPr sz="1400" b="0" i="0">
                <a:solidFill>
                  <a:srgbClr val="202428"/>
                </a:solidFill>
                <a:latin typeface="Arial"/>
              </a:rPr>
              <a:t>. Effect size g = 0.07 is essentially zero.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27632"/>
            <a:ext cx="2377440" cy="329184"/>
          </a:xfrm>
          <a:prstGeom prst="roundRect">
            <a:avLst>
              <a:gd name="adj" fmla="val 25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H1 NOT SUPPORTED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313432"/>
            <a:ext cx="4434840" cy="164592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0539F"/>
                </a:solidFill>
                <a:latin typeface="Arial"/>
              </a:rPr>
              <a:t/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2428"/>
                </a:solidFill>
                <a:latin typeface="Arial"/>
              </a:rPr>
              <a:t>Participants </a:t>
            </a:r>
            <a:r>
              <a:rPr sz="1300" b="1" i="0">
                <a:solidFill>
                  <a:srgbClr val="00539F"/>
                </a:solidFill>
                <a:latin typeface="Arial"/>
              </a:rPr>
              <a:t>saw</a:t>
            </a:r>
            <a:r>
              <a:rPr sz="1300" b="0" i="0">
                <a:solidFill>
                  <a:srgbClr val="202428"/>
                </a:solidFill>
                <a:latin typeface="Arial"/>
              </a:rPr>
              <a:t> the stylisation, as the manipulation check confirmed. They just did not find it </a:t>
            </a:r>
            <a:r>
              <a:rPr sz="1300" b="1" i="0">
                <a:solidFill>
                  <a:srgbClr val="00539F"/>
                </a:solidFill>
                <a:latin typeface="Arial"/>
              </a:rPr>
              <a:t>less eerie</a:t>
            </a:r>
            <a:r>
              <a:rPr sz="1300" b="0" i="0">
                <a:solidFill>
                  <a:srgbClr val="202428"/>
                </a:solidFill>
                <a:latin typeface="Arial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2428"/>
                </a:solidFill>
                <a:latin typeface="Arial"/>
              </a:rPr>
              <a:t>Stylisation and eeriness turn out to be separate effects here.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H2 - Does NPR cost trust against the photorealistic avatar?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0" i="0">
                <a:solidFill>
                  <a:srgbClr val="00539F"/>
                </a:solidFill>
                <a:latin typeface="Arial"/>
              </a:rPr>
              <a:t>Step 1.  Pairwise comparisons, C2 vs C3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17904"/>
          <a:ext cx="38404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1005840"/>
              </a:tblGrid>
              <a:tr h="3200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 </a:t>
                      </a:r>
                    </a:p>
                  </a:txBody>
                  <a:tcPr marL="73152" marT="27432" marB="2743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73152" marT="27432" marB="2743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g</a:t>
                      </a:r>
                    </a:p>
                  </a:txBody>
                  <a:tcPr marL="73152" marT="27432" marB="27432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Ability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.21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0.20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Benevolence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.18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0.19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Integrity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.27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0.16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299923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0" i="0">
                <a:solidFill>
                  <a:srgbClr val="00539F"/>
                </a:solidFill>
                <a:latin typeface="Arial"/>
              </a:rPr>
              <a:t>Step 2.  TOST equivalence, trust composite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346704"/>
          <a:ext cx="457200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097280"/>
                <a:gridCol w="1005840"/>
              </a:tblGrid>
              <a:tr h="3200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 </a:t>
                      </a:r>
                    </a:p>
                  </a:txBody>
                  <a:tcPr marL="73152" marT="27432" marB="2743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Diff.</a:t>
                      </a:r>
                    </a:p>
                  </a:txBody>
                  <a:tcPr marL="73152" marT="27432" marB="2743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Bound</a:t>
                      </a:r>
                    </a:p>
                  </a:txBody>
                  <a:tcPr marL="73152" marT="27432" marB="2743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TOST p</a:t>
                      </a:r>
                    </a:p>
                  </a:txBody>
                  <a:tcPr marL="73152" marT="27432" marB="27432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C2 vs C3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0.33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+/- 0.51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B3261E"/>
                          </a:solidFill>
                          <a:latin typeface="Arial"/>
                        </a:rPr>
                        <a:t>.240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14223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0" i="0">
                <a:solidFill>
                  <a:srgbClr val="5A6570"/>
                </a:solidFill>
                <a:latin typeface="Arial"/>
              </a:rPr>
              <a:t>Realised power near 0.20 at n = 41.</a:t>
            </a:r>
          </a:p>
        </p:txBody>
      </p:sp>
      <p:pic>
        <p:nvPicPr>
          <p:cNvPr id="11" name="Picture 10" descr="fig_tost_equi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17682"/>
            <a:ext cx="5349240" cy="219733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5120640"/>
            <a:ext cx="2331720" cy="329184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H2 INCONCLUSIVE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39" y="5138928"/>
            <a:ext cx="8625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0" i="0">
                <a:solidFill>
                  <a:srgbClr val="202428"/>
                </a:solidFill>
                <a:latin typeface="Arial"/>
              </a:rPr>
              <a:t>No difference detected, but equivalence not established either. Roughly </a:t>
            </a:r>
            <a:r>
              <a:rPr sz="1300" b="1" i="0">
                <a:solidFill>
                  <a:srgbClr val="00539F"/>
                </a:solidFill>
                <a:latin typeface="Arial"/>
              </a:rPr>
              <a:t>three times</a:t>
            </a:r>
            <a:r>
              <a:rPr sz="1300" b="0" i="0">
                <a:solidFill>
                  <a:srgbClr val="202428"/>
                </a:solidFill>
                <a:latin typeface="Arial"/>
              </a:rPr>
              <a:t> the sample is needed to separate the two.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H3 - Eeriness, likeability and trust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16</a:t>
            </a:r>
          </a:p>
        </p:txBody>
      </p:sp>
      <p:pic>
        <p:nvPicPr>
          <p:cNvPr id="6" name="Picture 5" descr="fig_h3_eeriness_tr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593" y="1170432"/>
            <a:ext cx="6182093" cy="39319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80960" y="1170432"/>
          <a:ext cx="39776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188720"/>
                <a:gridCol w="1188720"/>
              </a:tblGrid>
              <a:tr h="3200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 </a:t>
                      </a:r>
                    </a:p>
                  </a:txBody>
                  <a:tcPr marL="73152" marT="27432" marB="2743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Eeriness</a:t>
                      </a:r>
                    </a:p>
                  </a:txBody>
                  <a:tcPr marL="73152" marT="27432" marB="2743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Likeability</a:t>
                      </a:r>
                    </a:p>
                  </a:txBody>
                  <a:tcPr marL="73152" marT="27432" marB="27432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Ability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-1.17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+1.10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Benevolence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-1.10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+1.10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Integrity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-1.02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+1.08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0960" y="2542032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00" b="0" i="0">
                <a:solidFill>
                  <a:srgbClr val="5A6570"/>
                </a:solidFill>
                <a:latin typeface="Arial"/>
              </a:rPr>
              <a:t>Fixed-effect slopes, all p &lt; .001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2953512"/>
            <a:ext cx="2148840" cy="329184"/>
          </a:xfrm>
          <a:prstGeom prst="roundRect">
            <a:avLst>
              <a:gd name="adj" fmla="val 25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H3 CONFIRMED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547872"/>
            <a:ext cx="3977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0" i="0">
                <a:solidFill>
                  <a:srgbClr val="202428"/>
                </a:solidFill>
                <a:latin typeface="Arial"/>
              </a:rPr>
              <a:t>One point more eeriness costs about one point of trust, on every dimension. Likeability lifts it by the same amount.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553712"/>
            <a:ext cx="39776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00" b="0" i="0">
                <a:solidFill>
                  <a:srgbClr val="5A6570"/>
                </a:solidFill>
                <a:latin typeface="Arial"/>
              </a:rPr>
              <a:t>Caveat: the two correlate at r = -.72 within participants and cannot be separated cleanly 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779007"/>
            <a:ext cx="11185855" cy="530352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54864"/>
          <a:lstStyle/>
          <a:p>
            <a:pPr algn="ctr"/>
            <a:r>
              <a:rPr sz="1200" b="1" i="0">
                <a:solidFill>
                  <a:srgbClr val="00539F"/>
                </a:solidFill>
                <a:latin typeface="Arial"/>
              </a:rPr>
              <a:t>Takeaway.  </a:t>
            </a:r>
            <a:r>
              <a:rPr sz="1200" b="0" i="0">
                <a:solidFill>
                  <a:srgbClr val="00539F"/>
                </a:solidFill>
                <a:latin typeface="Arial"/>
              </a:rPr>
              <a:t>The route from appearance to trust is open. The composite never travelled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H4 - Does NPR reach the real human speaker?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00539F"/>
                </a:solidFill>
                <a:latin typeface="Arial"/>
              </a:rPr>
              <a:t>Pairwise, C1 vs C3.</a:t>
            </a:r>
            <a:r>
              <a:rPr sz="1400" b="0" i="0">
                <a:solidFill>
                  <a:srgbClr val="202428"/>
                </a:solidFill>
                <a:latin typeface="Arial"/>
              </a:rPr>
              <a:t>  Ability, benevolence and integrity were </a:t>
            </a:r>
            <a:r>
              <a:rPr sz="1400" b="1" i="0">
                <a:solidFill>
                  <a:srgbClr val="00539F"/>
                </a:solidFill>
                <a:latin typeface="Arial"/>
              </a:rPr>
              <a:t>all significantly higher</a:t>
            </a:r>
            <a:r>
              <a:rPr sz="1400" b="0" i="0">
                <a:solidFill>
                  <a:srgbClr val="202428"/>
                </a:solidFill>
                <a:latin typeface="Arial"/>
              </a:rPr>
              <a:t> for the real speaker (p &lt; .001, g = 0.75 to 0.80).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1343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0" i="0">
                <a:solidFill>
                  <a:srgbClr val="00539F"/>
                </a:solidFill>
                <a:latin typeface="Arial"/>
              </a:rPr>
              <a:t>TOST equivalence, trust composite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651760"/>
          <a:ext cx="457200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097280"/>
                <a:gridCol w="1005840"/>
              </a:tblGrid>
              <a:tr h="3200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 </a:t>
                      </a:r>
                    </a:p>
                  </a:txBody>
                  <a:tcPr marL="73152" marT="27432" marB="2743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Diff.</a:t>
                      </a:r>
                    </a:p>
                  </a:txBody>
                  <a:tcPr marL="73152" marT="27432" marB="2743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Bound</a:t>
                      </a:r>
                    </a:p>
                  </a:txBody>
                  <a:tcPr marL="73152" marT="27432" marB="2743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TOST p</a:t>
                      </a:r>
                    </a:p>
                  </a:txBody>
                  <a:tcPr marL="73152" marT="27432" marB="27432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C1 vs C3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B3261E"/>
                          </a:solidFill>
                          <a:latin typeface="Arial"/>
                        </a:rPr>
                        <a:t>1.31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+/- 0.47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.998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502152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202428"/>
                </a:solidFill>
                <a:latin typeface="Arial"/>
              </a:rPr>
              <a:t>The difference is nearly </a:t>
            </a:r>
            <a:r>
              <a:rPr sz="1400" b="1" i="0">
                <a:solidFill>
                  <a:srgbClr val="00539F"/>
                </a:solidFill>
                <a:latin typeface="Arial"/>
              </a:rPr>
              <a:t>three times</a:t>
            </a:r>
            <a:r>
              <a:rPr sz="1400" b="0" i="0">
                <a:solidFill>
                  <a:srgbClr val="202428"/>
                </a:solidFill>
                <a:latin typeface="Arial"/>
              </a:rPr>
              <a:t> the equivalence bound. This is not a marginal shortfall.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490472"/>
            <a:ext cx="2560320" cy="329184"/>
          </a:xfrm>
          <a:prstGeom prst="roundRect">
            <a:avLst>
              <a:gd name="adj" fmla="val 25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H4 NOT SUPPORTED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221991"/>
            <a:ext cx="4800600" cy="192024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0539F"/>
                </a:solidFill>
                <a:latin typeface="Arial"/>
              </a:rPr>
              <a:t>Two explanations stay open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2428"/>
                </a:solidFill>
                <a:latin typeface="Arial"/>
              </a:rPr>
              <a:t>1.  The uncanny valley predicts exactly this gap.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2428"/>
                </a:solidFill>
                <a:latin typeface="Arial"/>
              </a:rPr>
              <a:t>2.  Some participants may have recognised the speaker, who is the researcher.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2428"/>
                </a:solidFill>
                <a:latin typeface="Arial"/>
              </a:rPr>
              <a:t>This design cannot separate them.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The behavioural measure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0" i="0">
                <a:solidFill>
                  <a:srgbClr val="5A6570"/>
                </a:solidFill>
                <a:latin typeface="Arial"/>
              </a:rPr>
              <a:t>Forced ranking after all three videos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18</a:t>
            </a:r>
          </a:p>
        </p:txBody>
      </p:sp>
      <p:pic>
        <p:nvPicPr>
          <p:cNvPr id="7" name="Picture 6" descr="fig_rank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333" y="1124712"/>
            <a:ext cx="8343027" cy="32004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526280"/>
          <a:ext cx="76809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834640"/>
                <a:gridCol w="1371600"/>
                <a:gridCol w="1188720"/>
              </a:tblGrid>
              <a:tr h="32004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539F"/>
                          </a:solidFill>
                          <a:latin typeface="Arial"/>
                        </a:rPr>
                        <a:t>Question</a:t>
                      </a:r>
                    </a:p>
                  </a:txBody>
                  <a:tcPr marL="64008" marT="18288" marB="18288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539F"/>
                          </a:solidFill>
                          <a:latin typeface="Arial"/>
                        </a:rPr>
                        <a:t>Friedman</a:t>
                      </a:r>
                    </a:p>
                  </a:txBody>
                  <a:tcPr marL="64008" marT="18288" marB="18288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539F"/>
                          </a:solidFill>
                          <a:latin typeface="Arial"/>
                        </a:rPr>
                        <a:t>C1 vs C2/C3</a:t>
                      </a:r>
                    </a:p>
                  </a:txBody>
                  <a:tcPr marL="64008" marT="18288" marB="18288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539F"/>
                          </a:solidFill>
                          <a:latin typeface="Arial"/>
                        </a:rPr>
                        <a:t>C2 vs C3</a:t>
                      </a:r>
                    </a:p>
                  </a:txBody>
                  <a:tcPr marL="64008" marT="18288" marB="18288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Most want to consult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chi2(2) = 49.40, p &lt; .001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p &lt; .001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p = .21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Most trustworthy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chi2(2) = 44.05, p &lt; .001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p &lt; .001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p = .07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Least unsettling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chi2(2) = 1.02, p = .60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p = .97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p = .97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366760" y="4526280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0" i="0">
                <a:solidFill>
                  <a:srgbClr val="202428"/>
                </a:solidFill>
                <a:latin typeface="Arial"/>
              </a:rPr>
              <a:t>Canales et al. found ratings and behaviour diverge. Here they </a:t>
            </a:r>
            <a:r>
              <a:rPr sz="1100" b="1" i="0">
                <a:solidFill>
                  <a:srgbClr val="00539F"/>
                </a:solidFill>
                <a:latin typeface="Arial"/>
              </a:rPr>
              <a:t>converged</a:t>
            </a:r>
            <a:r>
              <a:rPr sz="1100" b="0" i="0">
                <a:solidFill>
                  <a:srgbClr val="202428"/>
                </a:solidFill>
                <a:latin typeface="Arial"/>
              </a:rPr>
              <a:t>. C3 attracted no more behavioural endorsement than C2.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Robustness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0" i="0">
                <a:solidFill>
                  <a:srgbClr val="5A6570"/>
                </a:solidFill>
                <a:latin typeface="Arial"/>
              </a:rPr>
              <a:t>Three ways the null could have been an artefact, and was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3576218" cy="274320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0539F"/>
                </a:solidFill>
                <a:latin typeface="Arial"/>
              </a:rPr>
              <a:t>Order effects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Video position had no significant effect on any subscale. Likeability came closest at p = .054.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Study version groups differed on likeability and eeriness, but on no trust subscale. That comparison is between subjects.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738" y="1353312"/>
            <a:ext cx="3576218" cy="274320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0539F"/>
                </a:solidFill>
                <a:latin typeface="Arial"/>
              </a:rPr>
              <a:t>Suspicion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24 of 41 named realism, stylisation or trust when asked what the study was about.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Re-running H1 and H2 on the remaining 17 did not change the pattern.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Participants answered on their own impressions, not on a guessed hypothesis.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2556" y="1353312"/>
            <a:ext cx="3576218" cy="274320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0539F"/>
                </a:solidFill>
                <a:latin typeface="Arial"/>
              </a:rPr>
              <a:t>Secondary measures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Agreement with the recommendation did not differ by condition, F(2,80) = 2.10, p = .13.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Dispositional trust did not predict the trust composite, r(39) = -.10, p = .52.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Preference shift was rare everywhere: 4, 5 and 1 of 41.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0" i="0">
                <a:solidFill>
                  <a:srgbClr val="5A6570"/>
                </a:solidFill>
                <a:latin typeface="Arial"/>
              </a:rPr>
              <a:t>Two patterns that need explaining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27632"/>
            <a:ext cx="5364327" cy="137160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00539F"/>
                </a:solidFill>
                <a:latin typeface="Arial"/>
              </a:rPr>
              <a:t>Pattern 1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02428"/>
                </a:solidFill>
                <a:latin typeface="Arial"/>
              </a:rPr>
              <a:t>The real speaker sits far above both avatars, on every subscale and both significant rankings.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627632"/>
            <a:ext cx="5364327" cy="137160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00539F"/>
                </a:solidFill>
                <a:latin typeface="Arial"/>
              </a:rPr>
              <a:t>Pattern 2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02428"/>
                </a:solidFill>
                <a:latin typeface="Arial"/>
              </a:rPr>
              <a:t>The two avatars looked different to participants, yet scored identically on everything that mattered.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56432"/>
            <a:ext cx="111858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00539F"/>
                </a:solidFill>
                <a:latin typeface="Arial"/>
              </a:rPr>
              <a:t>And one constraint on any explanation: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00539F"/>
                </a:solidFill>
                <a:latin typeface="Arial"/>
              </a:rPr>
              <a:t>Eeriness and likeability did predict trust (H3). The road was open.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00539F"/>
                </a:solidFill>
                <a:latin typeface="Arial"/>
              </a:rPr>
              <a:t>The composite changed what people saw without travelling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Why eeriness did not fall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0" i="0">
                <a:solidFill>
                  <a:srgbClr val="5A6570"/>
                </a:solidFill>
                <a:latin typeface="Arial"/>
              </a:rPr>
              <a:t>Two mismatches inside the composite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5364327" cy="365760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0539F"/>
                </a:solidFill>
                <a:latin typeface="Arial"/>
              </a:rPr>
              <a:t>1.  Material versus shape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The composite stylises the </a:t>
            </a:r>
            <a:r>
              <a:rPr sz="1200" b="1" i="0">
                <a:solidFill>
                  <a:srgbClr val="00539F"/>
                </a:solidFill>
                <a:latin typeface="Arial"/>
              </a:rPr>
              <a:t>material</a:t>
            </a:r>
            <a:r>
              <a:rPr sz="1200" b="0" i="0">
                <a:solidFill>
                  <a:srgbClr val="202428"/>
                </a:solidFill>
                <a:latin typeface="Arial"/>
              </a:rPr>
              <a:t> and leaves the </a:t>
            </a:r>
            <a:r>
              <a:rPr sz="1200" b="1" i="0">
                <a:solidFill>
                  <a:srgbClr val="00539F"/>
                </a:solidFill>
                <a:latin typeface="Arial"/>
              </a:rPr>
              <a:t>shape</a:t>
            </a:r>
            <a:r>
              <a:rPr sz="1200" b="0" i="0">
                <a:solidFill>
                  <a:srgbClr val="202428"/>
                </a:solidFill>
                <a:latin typeface="Arial"/>
              </a:rPr>
              <a:t> untouched.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Zell et al.: material drives eeriness, so this should have helped.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But the same work reports eeriness </a:t>
            </a:r>
            <a:r>
              <a:rPr sz="1200" b="1" i="0">
                <a:solidFill>
                  <a:srgbClr val="00539F"/>
                </a:solidFill>
                <a:latin typeface="Arial"/>
              </a:rPr>
              <a:t>rises</a:t>
            </a:r>
            <a:r>
              <a:rPr sz="1200" b="0" i="0">
                <a:solidFill>
                  <a:srgbClr val="202428"/>
                </a:solidFill>
                <a:latin typeface="Arial"/>
              </a:rPr>
              <a:t> when material and shape disagree in stylisation level.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C3 is exactly that case: a stylised surface on a photogrammetric face.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The abstraction may have removed one source of eeriness while adding another.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170432"/>
            <a:ext cx="5364327" cy="365760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0539F"/>
                </a:solidFill>
                <a:latin typeface="Arial"/>
              </a:rPr>
              <a:t>2.  Appearance versus performance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Both avatars inherit the </a:t>
            </a:r>
            <a:r>
              <a:rPr sz="1200" b="1" i="0">
                <a:solidFill>
                  <a:srgbClr val="00539F"/>
                </a:solidFill>
                <a:latin typeface="Arial"/>
              </a:rPr>
              <a:t>same</a:t>
            </a:r>
            <a:r>
              <a:rPr sz="1200" b="0" i="0">
                <a:solidFill>
                  <a:srgbClr val="202428"/>
                </a:solidFill>
                <a:latin typeface="Arial"/>
              </a:rPr>
              <a:t> recorded human voice, gaze and lip animation.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C3 therefore pairs a fully human performance with a visibly abstracted face.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Cihodaru-Stefanache &amp; Podina: uncanniness arises from features perceived at </a:t>
            </a:r>
            <a:r>
              <a:rPr sz="1200" b="1" i="0">
                <a:solidFill>
                  <a:srgbClr val="00539F"/>
                </a:solidFill>
                <a:latin typeface="Arial"/>
              </a:rPr>
              <a:t>inconsistent</a:t>
            </a:r>
            <a:r>
              <a:rPr sz="1200" b="0" i="0">
                <a:solidFill>
                  <a:srgbClr val="202428"/>
                </a:solidFill>
                <a:latin typeface="Arial"/>
              </a:rPr>
              <a:t> levels of anthropomorphism.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A shading operator changes appearance only. It could only widen that gap.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Three more explanations on the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61872"/>
            <a:ext cx="3576218" cy="365760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0539F"/>
                </a:solidFill>
                <a:latin typeface="Arial"/>
              </a:rPr>
              <a:t>The comparison set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Once a real person anchors the top of the scale, the only judgement left is how far below.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Both avatars were recognisably CG. A rendering difference competes against a categorical one.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C3 followed C1 directly in two versions of three. C2 never did.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7738" y="1261872"/>
            <a:ext cx="3576218" cy="365760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0539F"/>
                </a:solidFill>
                <a:latin typeface="Arial"/>
              </a:rPr>
              <a:t>Generative AI expectations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One participant asked afterwards which AI system generated the videos.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Nothing in the materials ruled that reading out.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Scepticism towards machine-made media depresses both avatars equally.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2556" y="1261872"/>
            <a:ext cx="3576218" cy="365760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0539F"/>
                </a:solidFill>
                <a:latin typeface="Arial"/>
              </a:rPr>
              <a:t>The video setting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Flat screen, prerecorded, no interaction, no shared space.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Zibrek et al. found render style significantly moved presence in VR.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What is too weak in a browser window may register once the avatar shares your room.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70432"/>
            <a:ext cx="5364327" cy="169164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0539F"/>
                </a:solidFill>
                <a:latin typeface="Arial"/>
              </a:rPr>
              <a:t>Session length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2428"/>
                </a:solidFill>
                <a:latin typeface="Arial"/>
              </a:rPr>
              <a:t>Both studies had to fit 10 to 15 minutes, and every measure was repeated three times. That capped how many measures and conditions were affordable.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090672"/>
            <a:ext cx="5364327" cy="169164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0539F"/>
                </a:solidFill>
                <a:latin typeface="Arial"/>
              </a:rPr>
              <a:t>One configuration only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2428"/>
                </a:solidFill>
                <a:latin typeface="Arial"/>
              </a:rPr>
              <a:t>One composite, one avatar identity, one platform, three scenarios. The findings describe </a:t>
            </a:r>
            <a:r>
              <a:rPr sz="1300" b="1" i="0">
                <a:solidFill>
                  <a:srgbClr val="00539F"/>
                </a:solidFill>
                <a:latin typeface="Arial"/>
              </a:rPr>
              <a:t>this configuration</a:t>
            </a:r>
            <a:r>
              <a:rPr sz="1300" b="0" i="0">
                <a:solidFill>
                  <a:srgbClr val="202428"/>
                </a:solidFill>
                <a:latin typeface="Arial"/>
              </a:rPr>
              <a:t>, not NPR as a category.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170432"/>
            <a:ext cx="5364327" cy="169164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0539F"/>
                </a:solidFill>
                <a:latin typeface="Arial"/>
              </a:rPr>
              <a:t>Sample size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2428"/>
                </a:solidFill>
                <a:latin typeface="Arial"/>
              </a:rPr>
              <a:t>The submission deadline set the collection window, which fell in the semester break. n = 41 met the power requirement for detecting a difference, not the far larger one equivalence demands.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3090672"/>
            <a:ext cx="5364327" cy="169164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0539F"/>
                </a:solidFill>
                <a:latin typeface="Arial"/>
              </a:rPr>
              <a:t>Counterbalancing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2428"/>
                </a:solidFill>
                <a:latin typeface="Arial"/>
              </a:rPr>
              <a:t>Three conditions need six orders for a full design. That needs roughly twice the sample, so three orders were used.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0" i="0">
                <a:solidFill>
                  <a:srgbClr val="5A6570"/>
                </a:solidFill>
                <a:latin typeface="Arial"/>
              </a:rPr>
              <a:t>What the three questions ended up answering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1115568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058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00539F"/>
                </a:solidFill>
                <a:latin typeface="Arial"/>
              </a:rPr>
              <a:t>RQ1     </a:t>
            </a:r>
            <a:r>
              <a:rPr sz="1400" b="0" i="0">
                <a:solidFill>
                  <a:srgbClr val="5A6570"/>
                </a:solidFill>
                <a:latin typeface="Arial"/>
              </a:rPr>
              <a:t>Adaptation across platforms</a:t>
            </a:r>
          </a:p>
          <a:p>
            <a:r>
              <a:rPr sz="1200" b="0" i="0">
                <a:solidFill>
                  <a:srgbClr val="202428"/>
                </a:solidFill>
                <a:latin typeface="Arial"/>
              </a:rPr>
              <a:t>All eight techniques ran on all three platforms. The dividing line is whether an operator needs </a:t>
            </a:r>
            <a:r>
              <a:rPr sz="1200" b="1" i="0">
                <a:solidFill>
                  <a:srgbClr val="00539F"/>
                </a:solidFill>
                <a:latin typeface="Arial"/>
              </a:rPr>
              <a:t>new parameter values</a:t>
            </a:r>
            <a:r>
              <a:rPr sz="1200" b="0" i="0">
                <a:solidFill>
                  <a:srgbClr val="202428"/>
                </a:solidFill>
                <a:latin typeface="Arial"/>
              </a:rPr>
              <a:t>, which is always possible, or a </a:t>
            </a:r>
            <a:r>
              <a:rPr sz="1200" b="1" i="0">
                <a:solidFill>
                  <a:srgbClr val="00539F"/>
                </a:solidFill>
                <a:latin typeface="Arial"/>
              </a:rPr>
              <a:t>new input signal</a:t>
            </a:r>
            <a:r>
              <a:rPr sz="1200" b="0" i="0">
                <a:solidFill>
                  <a:srgbClr val="202428"/>
                </a:solidFill>
                <a:latin typeface="Arial"/>
              </a:rPr>
              <a:t>, which only an open pipeline provides.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68880"/>
            <a:ext cx="11185855" cy="1115568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058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00539F"/>
                </a:solidFill>
                <a:latin typeface="Arial"/>
              </a:rPr>
              <a:t>RQ2     </a:t>
            </a:r>
            <a:r>
              <a:rPr sz="1400" b="0" i="0">
                <a:solidFill>
                  <a:srgbClr val="5A6570"/>
                </a:solidFill>
                <a:latin typeface="Arial"/>
              </a:rPr>
              <a:t>Best balance of abstraction and legibility</a:t>
            </a:r>
          </a:p>
          <a:p>
            <a:r>
              <a:rPr sz="1200" b="0" i="0">
                <a:solidFill>
                  <a:srgbClr val="202428"/>
                </a:solidFill>
                <a:latin typeface="Arial"/>
              </a:rPr>
              <a:t>No technique reached it by rendering alone on a photogrammetric avatar. The answer is a </a:t>
            </a:r>
            <a:r>
              <a:rPr sz="1200" b="1" i="0">
                <a:solidFill>
                  <a:srgbClr val="00539F"/>
                </a:solidFill>
                <a:latin typeface="Arial"/>
              </a:rPr>
              <a:t>three-part composite</a:t>
            </a:r>
            <a:r>
              <a:rPr sz="1200" b="0" i="0">
                <a:solidFill>
                  <a:srgbClr val="202428"/>
                </a:solidFill>
                <a:latin typeface="Arial"/>
              </a:rPr>
              <a:t>, outline plus X-Toon plus Sobel, </a:t>
            </a:r>
            <a:r>
              <a:rPr sz="1200" b="1" i="0">
                <a:solidFill>
                  <a:srgbClr val="00539F"/>
                </a:solidFill>
                <a:latin typeface="Arial"/>
              </a:rPr>
              <a:t>paired with head texture preprocessing</a:t>
            </a:r>
            <a:r>
              <a:rPr sz="1200" b="0" i="0">
                <a:solidFill>
                  <a:srgbClr val="202428"/>
                </a:solidFill>
                <a:latin typeface="Arial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67328"/>
            <a:ext cx="11185855" cy="1115568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0584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00539F"/>
                </a:solidFill>
                <a:latin typeface="Arial"/>
              </a:rPr>
              <a:t>RQ3     </a:t>
            </a:r>
            <a:r>
              <a:rPr sz="1400" b="0" i="0">
                <a:solidFill>
                  <a:srgbClr val="5A6570"/>
                </a:solidFill>
                <a:latin typeface="Arial"/>
              </a:rPr>
              <a:t>Effect on eeriness and trust</a:t>
            </a:r>
          </a:p>
          <a:p>
            <a:r>
              <a:rPr sz="1200" b="0" i="0">
                <a:solidFill>
                  <a:srgbClr val="202428"/>
                </a:solidFill>
                <a:latin typeface="Arial"/>
              </a:rPr>
              <a:t>H1 not supported, H2 inconclusive, </a:t>
            </a:r>
            <a:r>
              <a:rPr sz="1200" b="1" i="0">
                <a:solidFill>
                  <a:srgbClr val="1B7A43"/>
                </a:solidFill>
                <a:latin typeface="Arial"/>
              </a:rPr>
              <a:t>H3 confirmed</a:t>
            </a:r>
            <a:r>
              <a:rPr sz="1200" b="0" i="0">
                <a:solidFill>
                  <a:srgbClr val="202428"/>
                </a:solidFill>
                <a:latin typeface="Arial"/>
              </a:rPr>
              <a:t>, H4 not supported. The composite did not lower eeriness, and it also carried </a:t>
            </a:r>
            <a:r>
              <a:rPr sz="1200" b="1" i="0">
                <a:solidFill>
                  <a:srgbClr val="00539F"/>
                </a:solidFill>
                <a:latin typeface="Arial"/>
              </a:rPr>
              <a:t>no observed trust penalty</a:t>
            </a:r>
            <a:r>
              <a:rPr sz="1200" b="0" i="0">
                <a:solidFill>
                  <a:srgbClr val="202428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166360"/>
            <a:ext cx="11185855" cy="77724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0539F"/>
                </a:solidFill>
                <a:latin typeface="Arial"/>
              </a:rPr>
              <a:t>A developer choosing the stylised version need not assume a disadvantage.
The real distance is not between two render styles. It is to the actual human.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70432"/>
            <a:ext cx="5364327" cy="123444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0539F"/>
                </a:solidFill>
                <a:latin typeface="Arial"/>
              </a:rPr>
              <a:t>Settle the open question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Repeat C2 versus C3 with roughly </a:t>
            </a:r>
            <a:r>
              <a:rPr sz="1200" b="1" i="0">
                <a:solidFill>
                  <a:srgbClr val="00539F"/>
                </a:solidFill>
                <a:latin typeface="Arial"/>
              </a:rPr>
              <a:t>120 participants</a:t>
            </a:r>
            <a:r>
              <a:rPr sz="1200" b="0" i="0">
                <a:solidFill>
                  <a:srgbClr val="202428"/>
                </a:solidFill>
                <a:latin typeface="Arial"/>
              </a:rPr>
              <a:t>. Inside the bound confirms no trust cost, outside exposes one too small to see 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87752"/>
            <a:ext cx="5364327" cy="219456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0539F"/>
                </a:solidFill>
                <a:latin typeface="Arial"/>
              </a:rPr>
              <a:t>Test the competing explanations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Extend abstraction to the </a:t>
            </a:r>
            <a:r>
              <a:rPr sz="1200" b="1" i="0">
                <a:solidFill>
                  <a:srgbClr val="00539F"/>
                </a:solidFill>
                <a:latin typeface="Arial"/>
              </a:rPr>
              <a:t>geometry</a:t>
            </a:r>
            <a:r>
              <a:rPr sz="1200" b="0" i="0">
                <a:solidFill>
                  <a:srgbClr val="202428"/>
                </a:solidFill>
                <a:latin typeface="Arial"/>
              </a:rPr>
              <a:t>, not just the material.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Drop the real speaker and let the two avatars be compared alone.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State up front that the videos are </a:t>
            </a:r>
            <a:r>
              <a:rPr sz="1200" b="1" i="0">
                <a:solidFill>
                  <a:srgbClr val="00539F"/>
                </a:solidFill>
                <a:latin typeface="Arial"/>
              </a:rPr>
              <a:t>not AI-generated</a:t>
            </a:r>
            <a:r>
              <a:rPr sz="1200" b="0" i="0">
                <a:solidFill>
                  <a:srgbClr val="202428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170432"/>
            <a:ext cx="5364327" cy="141732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0539F"/>
                </a:solidFill>
                <a:latin typeface="Arial"/>
              </a:rPr>
              <a:t>Replace the point with a curve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Sweep abstraction strength continuously instead of testing one setting. That traces how eeriness and trust move together and can reveal an optimum between the extremes.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2770632"/>
            <a:ext cx="5364327" cy="77724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0539F"/>
                </a:solidFill>
                <a:latin typeface="Arial"/>
              </a:rPr>
              <a:t>Restore what video removed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Interaction and shared space, in VR.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3730752"/>
            <a:ext cx="5364327" cy="105156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0539F"/>
                </a:solidFill>
                <a:latin typeface="Arial"/>
              </a:rPr>
              <a:t>Widen the sample of avatars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Multiple identities and platforms, to separate a general effect from one specific to this face.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3800" b="0" i="0">
                <a:solidFill>
                  <a:srgbClr val="00539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800" b="0" i="0">
                <a:solidFill>
                  <a:srgbClr val="5A6570"/>
                </a:solidFill>
                <a:latin typeface="Arial"/>
              </a:rPr>
              <a:t>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3429000"/>
            <a:ext cx="7436815" cy="118872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>
                <a:solidFill>
                  <a:srgbClr val="00539F"/>
                </a:solidFill>
                <a:latin typeface="Arial"/>
              </a:rPr>
              <a:t>Eight NPR techniques, three avatar platforms, two studies, 86 participants.
Stylisation was clearly seen, cost no measurable trust,
and did not close the gap to a real human.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100" b="0" i="0">
                <a:solidFill>
                  <a:srgbClr val="5A6570"/>
                </a:solidFill>
                <a:latin typeface="Arial"/>
              </a:rPr>
              <a:t>Nidanur Gunay   |   nidanur.guenay@uni-konstanz.de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3576218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1" i="0">
                <a:solidFill>
                  <a:srgbClr val="00539F"/>
                </a:solidFill>
                <a:latin typeface="Arial"/>
              </a:rPr>
              <a:t>Uncanny valley and avatar perception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[1] Mori, M. The Uncanny Valley. Energy 7(4), 33-35, 1970.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[2] MacDorman, K.F., Ishiguro, H. The Uncanny Advantage of Using Androids in Cognitive and Social Science Research. Interaction Studies 7(3), 297-337, 2006.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[3] McDonnell, R., Breidt, M., Bulthoff, H.H. Render Me Real? ACM TOG 31(4), 2012.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[4] Dill, V. et al. Evaluation of the Uncanny Valley in CG Characters. IVA 2012, 511-513.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[5] Zell, E. et al. To Stylize or Not to Stylize? ACM TOG 34(6), 2015.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[6] Cihodaru-Stefanache, S., Podina, I.R. The Uncanny Valley Effect in Embodied Conversational Agents. Frontiers in Psychology 16, 2025.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[7] Zibrek, K., McDonnell, R. Social Presence and Place Illusion are Affected by Photorealism in Embodied VR. ACM MIG, 2019.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7738" y="1170432"/>
            <a:ext cx="3576218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1" i="0">
                <a:solidFill>
                  <a:srgbClr val="00539F"/>
                </a:solidFill>
                <a:latin typeface="Arial"/>
              </a:rPr>
              <a:t>Trust and measurement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[8] Mayer, R.C., Davis, J.H., Schoorman, F.D. An Integrative Model of Organizational Trust. AMR 20(3), 709-734, 1995.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[9] Bartneck, C. et al. Measurement Instruments for Anthropomorphism, Animacy, Likeability... Int. J. Social Robotics 1(1), 71-81, 2009.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[10] Ho, C.-C., MacDorman, K.F. Revisiting the Uncanny Valley Theory. Computers in Human Behavior 26(6), 1508-1518, 2010.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[11] Canales, R., Roble, D., Neff, M. The Impact of Avatar Stylization on Trust. IEEE VR, 418-428, 2024.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[12] Dubosc, C. et al. Effect of Avatar Stylization and Facial Expression Intensity in Virtual Interactions. Virtual Reality 29(4), 2025.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[13] Gao, Y. et al. Trust in Virtual Agents. IEEE TVCG 31(5), 3623-3633, 2025.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[14] Tao, Z. et al. Impact of Virtual Avatar Appearance Realism. Frontiers in Psychology 16, 2025.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[15] Alipour, A., Hartmann, T., Alimardani, M. Would You Rely on an Eerie Agent? Computers in Human Behavior Reports 23, 2026.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[16] Demsar, J. Statistical Comparisons of Classifiers over Multiple Data Sets. JMLR 7, 1-30, 2006.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2556" y="1170432"/>
            <a:ext cx="3576218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1" i="0">
                <a:solidFill>
                  <a:srgbClr val="00539F"/>
                </a:solidFill>
                <a:latin typeface="Arial"/>
              </a:rPr>
              <a:t>Non-photorealistic rendering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[17] Lake, A. et al. Stylized Rendering Techniques for Scalable Real-Time 3D Animation. NPAR, 13-20, 2000.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[18] Barla, P., Thollot, J., Markosian, L. X-Toon: An Extended Toon Shader. NPAR, 127-132, 2006.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[19] Raskar, R., Cohen, M. Image Precision Silhouette Edges. I3D, 135-140, 1999.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[20] Isenberg, T. et al. A Developer's Guide to Silhouette Algorithms for Polygonal Models. IEEE CG&amp;A 23(4), 28-37, 2003.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[21] Marr, D., Hildreth, E. Theory of Edge Detection. Proc. R. Soc. B 207(1167), 187-217, 1980.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[22] Gonzalez, R.C., Woods, R.E. Digital Image Processing. Pearson, 2018.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[23] Kyprianidis, J.E., Kang, H., Dollner, J. Image and Video Abstraction by Anisotropic Kuwahara Filtering. CGF 28(7), 1955-1963, 2009.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202428"/>
                </a:solidFill>
                <a:latin typeface="Arial"/>
              </a:rPr>
              <a:t>[24] Lino Roshaan, M.K. AHEAD: Adaptive Hierarchical Edge Detection for Real-Time Artistic Stylization, 2026.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Media credits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70432"/>
            <a:ext cx="5318607" cy="41148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0539F"/>
                </a:solidFill>
                <a:latin typeface="Arial"/>
              </a:rPr>
              <a:t>Video, slide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10512"/>
            <a:ext cx="5135727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0" i="0">
                <a:solidFill>
                  <a:srgbClr val="202428"/>
                </a:solidFill>
                <a:latin typeface="Arial"/>
              </a:rPr>
              <a:t>Mark Zuckerberg: First Interview in the Metaverse, Lex Fridman Podcast #398. YouTube.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0" i="0">
                <a:solidFill>
                  <a:srgbClr val="202428"/>
                </a:solidFill>
                <a:latin typeface="Arial"/>
              </a:rPr>
              <a:t>youtube.com/watch?v=MVYrJJNdrEg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0" i="0">
                <a:solidFill>
                  <a:srgbClr val="202428"/>
                </a:solidFill>
                <a:latin typeface="Arial"/>
              </a:rPr>
              <a:t>Avaturn: Realistic 3D Avatars for Gaming from Photo. YouTube.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0" i="0">
                <a:solidFill>
                  <a:srgbClr val="202428"/>
                </a:solidFill>
                <a:latin typeface="Arial"/>
              </a:rPr>
              <a:t>youtube.com/watch?v=rSb0Io92_R8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0" i="0">
                <a:solidFill>
                  <a:srgbClr val="202428"/>
                </a:solidFill>
                <a:latin typeface="Arial"/>
              </a:rPr>
              <a:t>How Apple Vision Pro's New Spatial Persona Changes Everything. YouTube, 11 April 2024.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100" b="0" i="0">
                <a:solidFill>
                  <a:srgbClr val="202428"/>
                </a:solidFill>
                <a:latin typeface="Arial"/>
              </a:rPr>
              <a:t>youtube.com/watch?v=H3PB2zA6Q-c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73752"/>
            <a:ext cx="51357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00" b="0" i="0">
                <a:solidFill>
                  <a:srgbClr val="5A6570"/>
                </a:solidFill>
                <a:latin typeface="Arial"/>
              </a:rPr>
              <a:t>Excerpts shown for scholarly illustration under the German right of quotation, section 51 UrhG.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0167" y="1170432"/>
            <a:ext cx="5318607" cy="41148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0539F"/>
                </a:solidFill>
                <a:latin typeface="Arial"/>
              </a:rPr>
              <a:t>Figures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1810512"/>
            <a:ext cx="5135727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100" b="1" i="0">
                <a:solidFill>
                  <a:srgbClr val="00539F"/>
                </a:solidFill>
                <a:latin typeface="Arial"/>
              </a:rPr>
              <a:t>Slide 3</a:t>
            </a:r>
            <a:r>
              <a:rPr sz="1100" b="0" i="0">
                <a:solidFill>
                  <a:srgbClr val="202428"/>
                </a:solidFill>
                <a:latin typeface="Arial"/>
              </a:rPr>
              <a:t>, uncanny valley curve: after Mori, reference [1].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100" b="1" i="0">
                <a:solidFill>
                  <a:srgbClr val="00539F"/>
                </a:solidFill>
                <a:latin typeface="Arial"/>
              </a:rPr>
              <a:t>Slide 4</a:t>
            </a:r>
            <a:r>
              <a:rPr sz="1100" b="0" i="0">
                <a:solidFill>
                  <a:srgbClr val="202428"/>
                </a:solidFill>
                <a:latin typeface="Arial"/>
              </a:rPr>
              <a:t>, all named results: references [1] to [24].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100" b="1" i="0">
                <a:solidFill>
                  <a:srgbClr val="00539F"/>
                </a:solidFill>
                <a:latin typeface="Arial"/>
              </a:rPr>
              <a:t>Slides 8, 9 and 12 to 19</a:t>
            </a:r>
            <a:r>
              <a:rPr sz="1100" b="0" i="0">
                <a:solidFill>
                  <a:srgbClr val="202428"/>
                </a:solidFill>
                <a:latin typeface="Arial"/>
              </a:rPr>
              <a:t>, and all backup slides: own work. Renders from the Unity project, plots from the study data.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100" b="1" i="0">
                <a:solidFill>
                  <a:srgbClr val="00539F"/>
                </a:solidFill>
                <a:latin typeface="Arial"/>
              </a:rPr>
              <a:t>Avatars</a:t>
            </a:r>
            <a:r>
              <a:rPr sz="1100" b="0" i="0">
                <a:solidFill>
                  <a:srgbClr val="202428"/>
                </a:solidFill>
                <a:latin typeface="Arial"/>
              </a:rPr>
              <a:t>: Avaturn, Meta Avatars SDK and Mixamo, used under their respective terms.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100" b="1" i="0">
                <a:solidFill>
                  <a:srgbClr val="00539F"/>
                </a:solidFill>
                <a:latin typeface="Arial"/>
              </a:rPr>
              <a:t>Logo</a:t>
            </a:r>
            <a:r>
              <a:rPr sz="1100" b="0" i="0">
                <a:solidFill>
                  <a:srgbClr val="202428"/>
                </a:solidFill>
                <a:latin typeface="Arial"/>
              </a:rPr>
              <a:t>: University of Konstanz.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017520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2800" b="0" i="0">
                <a:solidFill>
                  <a:srgbClr val="5A6570"/>
                </a:solidFill>
                <a:latin typeface="Arial"/>
              </a:rPr>
              <a:t>Backup slides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Backup - Visual quality assessment of all eight techniques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70432"/>
          <a:ext cx="1118311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103120"/>
                <a:gridCol w="1554480"/>
                <a:gridCol w="2286000"/>
                <a:gridCol w="2286000"/>
                <a:gridCol w="103327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539F"/>
                          </a:solidFill>
                          <a:latin typeface="Arial"/>
                        </a:rPr>
                        <a:t>Technique</a:t>
                      </a:r>
                    </a:p>
                  </a:txBody>
                  <a:tcPr marL="64008" marT="18288" marB="18288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539F"/>
                          </a:solidFill>
                          <a:latin typeface="Arial"/>
                        </a:rPr>
                        <a:t>Facial</a:t>
                      </a:r>
                    </a:p>
                  </a:txBody>
                  <a:tcPr marL="64008" marT="18288" marB="18288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539F"/>
                          </a:solidFill>
                          <a:latin typeface="Arial"/>
                        </a:rPr>
                        <a:t>Temporal</a:t>
                      </a:r>
                    </a:p>
                  </a:txBody>
                  <a:tcPr marL="64008" marT="18288" marB="18288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539F"/>
                          </a:solidFill>
                          <a:latin typeface="Arial"/>
                        </a:rPr>
                        <a:t>Artefacts</a:t>
                      </a:r>
                    </a:p>
                  </a:txBody>
                  <a:tcPr marL="64008" marT="18288" marB="18288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539F"/>
                          </a:solidFill>
                          <a:latin typeface="Arial"/>
                        </a:rPr>
                        <a:t>Abstraction</a:t>
                      </a:r>
                    </a:p>
                  </a:txBody>
                  <a:tcPr marL="64008" marT="18288" marB="18288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539F"/>
                          </a:solidFill>
                          <a:latin typeface="Arial"/>
                        </a:rPr>
                        <a:t>Candidate</a:t>
                      </a:r>
                    </a:p>
                  </a:txBody>
                  <a:tcPr marL="64008" marT="18288" marB="18288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V1 Outline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after tuning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B3261E"/>
                          </a:solidFill>
                          <a:latin typeface="Arial"/>
                        </a:rPr>
                        <a:t>not alone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V2 Toon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B3261E"/>
                          </a:solidFill>
                          <a:latin typeface="Arial"/>
                        </a:rPr>
                        <a:t>no interior lines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V2.2 X-Toon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manual mode chosen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V3 Normal edge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B3261E"/>
                          </a:solidFill>
                          <a:latin typeface="Arial"/>
                        </a:rPr>
                        <a:t>landmarks missed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V4 Sobel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after tuning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after tuning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after preprocessing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V4.2 Gauss Sobel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B3261E"/>
                          </a:solidFill>
                          <a:latin typeface="Arial"/>
                        </a:rPr>
                        <a:t>no gain over V4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after tuning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V5 Hierarchical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B3261E"/>
                          </a:solidFill>
                          <a:latin typeface="Arial"/>
                        </a:rPr>
                        <a:t>segments unclear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B3261E"/>
                          </a:solidFill>
                          <a:latin typeface="Arial"/>
                        </a:rPr>
                        <a:t>nose bridge artefact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V6 Kuwahara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B3261E"/>
                          </a:solidFill>
                          <a:latin typeface="Arial"/>
                        </a:rPr>
                        <a:t>fails at large radius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02428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70916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5A6570"/>
                </a:solidFill>
                <a:latin typeface="Arial"/>
              </a:rPr>
              <a:t>Five of the eight became candidates for the composite. The parameter adjustment study then removed V5 and V6, leaving V1, V2.2 and V4.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Backup - All variants shown in the parameter adjustment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31</a:t>
            </a:r>
          </a:p>
        </p:txBody>
      </p:sp>
      <p:pic>
        <p:nvPicPr>
          <p:cNvPr id="6" name="Picture 5" descr="prestudy_all_ver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497" y="1170432"/>
            <a:ext cx="5428699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Backup - Final composite parameters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32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70432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 marL="73152" marT="27432" marB="2743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73152" marT="27432" marB="27432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539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73152" marT="27432" marB="27432">
                    <a:solidFill>
                      <a:srgbClr val="E8F0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Outline width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0.003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R2 Borda winner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Depth offset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On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R2 Borda winner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Inner line threshold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0.05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R1 appeal tiebreaker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Shadow strength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R3 appeal tiebreaker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Detail bias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0.5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R3 appeal tiebreaker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Kuwahara filter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B3261E"/>
                          </a:solidFill>
                          <a:latin typeface="Arial"/>
                        </a:rPr>
                        <a:t>Off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R4 excluded (p = .003)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Hierarchical layer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B3261E"/>
                          </a:solidFill>
                          <a:latin typeface="Arial"/>
                        </a:rPr>
                        <a:t>Off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02428"/>
                          </a:solidFill>
                          <a:latin typeface="Arial"/>
                        </a:rPr>
                        <a:t>R5 excluded (p &lt; .001)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086600" y="1170432"/>
            <a:ext cx="4572000" cy="155448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0539F"/>
                </a:solidFill>
                <a:latin typeface="Arial"/>
              </a:rPr>
              <a:t/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2428"/>
                </a:solidFill>
                <a:latin typeface="Arial"/>
              </a:rPr>
              <a:t>Three of the seven values came from a separate visual appeal question, since no configuration in those rounds was statistically ahead of its runner-up.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Backup - Eeriness against likeability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33</a:t>
            </a:r>
          </a:p>
        </p:txBody>
      </p:sp>
      <p:pic>
        <p:nvPicPr>
          <p:cNvPr id="6" name="Picture 5" descr="fig_h3_like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448" y="1170432"/>
            <a:ext cx="10120798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120640"/>
            <a:ext cx="11185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202428"/>
                </a:solidFill>
                <a:latin typeface="Arial"/>
              </a:rPr>
              <a:t>Within participants the two correlate at r = -.72, sharing 52% of their variance. Entering both in one model absorbs most of the eeriness effect: it survives on ability (b = -0.50, p = .024) but not benevolence (p = .075) or integrity (p = .273), while likeability holds on all three.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85855" cy="42062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i="0">
                <a:solidFill>
                  <a:srgbClr val="00539F"/>
                </a:solidFill>
                <a:latin typeface="Arial"/>
              </a:rPr>
              <a:t>Backup - Full statistics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85855" cy="20116"/>
          </a:xfrm>
          <a:prstGeom prst="rect">
            <a:avLst/>
          </a:prstGeom>
          <a:solidFill>
            <a:srgbClr val="005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07286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Nidanur Gunay   |   Abstraction Mechanisms for Virtual Avatars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00"/>
              </a:spcAft>
            </a:pPr>
            <a:r>
              <a:rPr sz="800" b="0" i="0">
                <a:solidFill>
                  <a:srgbClr val="5A6570"/>
                </a:solidFill>
                <a:latin typeface="Arial"/>
              </a:rPr>
              <a:t>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70432"/>
          <a:ext cx="1118311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023360"/>
                <a:gridCol w="1920240"/>
                <a:gridCol w="1920240"/>
                <a:gridCol w="1581912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539F"/>
                          </a:solidFill>
                          <a:latin typeface="Arial"/>
                        </a:rPr>
                        <a:t>Subscale</a:t>
                      </a:r>
                    </a:p>
                  </a:txBody>
                  <a:tcPr marL="64008" marT="18288" marB="18288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539F"/>
                          </a:solidFill>
                          <a:latin typeface="Arial"/>
                        </a:rPr>
                        <a:t>Omnibus</a:t>
                      </a:r>
                    </a:p>
                  </a:txBody>
                  <a:tcPr marL="64008" marT="18288" marB="18288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539F"/>
                          </a:solidFill>
                          <a:latin typeface="Arial"/>
                        </a:rPr>
                        <a:t>C1 vs C2</a:t>
                      </a:r>
                    </a:p>
                  </a:txBody>
                  <a:tcPr marL="64008" marT="18288" marB="18288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539F"/>
                          </a:solidFill>
                          <a:latin typeface="Arial"/>
                        </a:rPr>
                        <a:t>C1 vs C3</a:t>
                      </a:r>
                    </a:p>
                  </a:txBody>
                  <a:tcPr marL="64008" marT="18288" marB="18288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539F"/>
                          </a:solidFill>
                          <a:latin typeface="Arial"/>
                        </a:rPr>
                        <a:t>C2 vs C3</a:t>
                      </a:r>
                    </a:p>
                  </a:txBody>
                  <a:tcPr marL="64008" marT="18288" marB="18288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Likeability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F(2,80)=26.85, p&lt;.001, eta2p=.40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p&lt;.001, g=0.92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p&lt;.001, g=1.02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p=.54, g=0.08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Eeriness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F(2,80)=20.39, p&lt;.001, eta2p=.34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p&lt;.001, g=0.98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p&lt;.001, g=0.98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p=.66, g=0.07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Ability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F(2,80)=10.91, p&lt;.001, eta2p=.21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p=.004, g=0.53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p&lt;.001, g=0.75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p=.21, g=0.20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Benevolence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F(2,80)=14.31, p&lt;.001, eta2p=.26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p&lt;.001, g=0.59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p&lt;.001, g=0.79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p=.18, g=0.19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Integrity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F(2,80)=12.47, p&lt;.001, eta2p=.24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p=.001, g=0.66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p&lt;.001, g=0.80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p=.27, g=0.16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70332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645920"/>
                <a:gridCol w="822960"/>
                <a:gridCol w="1554480"/>
                <a:gridCol w="822960"/>
              </a:tblGrid>
              <a:tr h="33528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539F"/>
                          </a:solidFill>
                          <a:latin typeface="Arial"/>
                        </a:rPr>
                        <a:t>Subscale</a:t>
                      </a:r>
                    </a:p>
                  </a:txBody>
                  <a:tcPr marL="64008" marT="18288" marB="18288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539F"/>
                          </a:solidFill>
                          <a:latin typeface="Arial"/>
                        </a:rPr>
                        <a:t>Position F(2,80)</a:t>
                      </a:r>
                    </a:p>
                  </a:txBody>
                  <a:tcPr marL="64008" marT="18288" marB="18288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539F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64008" marT="18288" marB="18288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539F"/>
                          </a:solidFill>
                          <a:latin typeface="Arial"/>
                        </a:rPr>
                        <a:t>Version F(2,38)</a:t>
                      </a:r>
                    </a:p>
                  </a:txBody>
                  <a:tcPr marL="64008" marT="18288" marB="18288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539F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64008" marT="18288" marB="18288">
                    <a:solidFill>
                      <a:srgbClr val="E8F0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Likeability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3.04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.054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7.07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02428"/>
                          </a:solidFill>
                          <a:latin typeface="Arial"/>
                        </a:rPr>
                        <a:t>.002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Eeriness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2.47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.091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5.57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02428"/>
                          </a:solidFill>
                          <a:latin typeface="Arial"/>
                        </a:rPr>
                        <a:t>.008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Ability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1.32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.274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1.23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.304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Benevolence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2.10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.130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1.26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.296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Integrity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1.72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.186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2.04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02428"/>
                          </a:solidFill>
                          <a:latin typeface="Arial"/>
                        </a:rPr>
                        <a:t>.144</a:t>
                      </a:r>
                    </a:p>
                  </a:txBody>
                  <a:tcPr marL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086600" y="3703320"/>
            <a:ext cx="4572000" cy="182880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0539F"/>
                </a:solidFill>
                <a:latin typeface="Arial"/>
              </a:rPr>
              <a:t>Intraclass correlations, H3 models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02428"/>
                </a:solidFill>
                <a:latin typeface="Arial"/>
              </a:rPr>
              <a:t>Eeriness models: .48 to .57.  Likeability models: .57 to .63.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02428"/>
                </a:solidFill>
                <a:latin typeface="Arial"/>
              </a:rPr>
              <a:t>Half or more of the variance in each trust subscale sits between participants rather than within them, which is consistent with large individual differences in general trustingness.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