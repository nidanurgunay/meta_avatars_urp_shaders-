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566928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10972"/>
          </a:xfrm>
          <a:prstGeom prst="rect">
            <a:avLst/>
          </a:prstGeom>
          <a:solidFill>
            <a:srgbClr val="5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6327648"/>
            <a:ext cx="1028974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09090"/>
                </a:solidFill>
                <a:latin typeface="Arial"/>
              </a:rPr>
              <a:t>Abstraction Mechanisms for Virtual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371600"/>
            <a:ext cx="3262274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1" i="0">
                <a:solidFill>
                  <a:srgbClr val="2E75B6"/>
                </a:solidFill>
                <a:latin typeface="Arial"/>
              </a:rPr>
              <a:t>Uncanny valley and avatar perception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[1] Mori, M. The Uncanny Valley. Energy 7(4), 33-35, 1970.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[2] MacDorman, K.F., Ishiguro, H. The Uncanny Advantage of Using Androids in Cognitive and Social Science Research. Interaction Studies 7(3), 297-337, 2006.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[3] McDonnell, R., Breidt, M., Bulthoff, H.H. Render Me Real? ACM TOG 31(4), 2012.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[4] Dill, V. et al. Evaluation of the Uncanny Valley in CG Characters. IVA 2012, 511-513.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[5] Zell, E. et al. To Stylize or Not to Stylize? ACM TOG 34(6), 2015.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[6] Cihodaru-Stefanache, S., Podina, I.R. The Uncanny Valley Effect in Embodied Conversational Agents. Frontiers in Psychology 16, 2025.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[7] Zibrek, K., McDonnell, R. Social Presence and Place Illusion are Affected by Photorealism in Embodied VR. ACM MIG, 2019.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9282" y="1371600"/>
            <a:ext cx="3262274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1" i="0">
                <a:solidFill>
                  <a:srgbClr val="2E75B6"/>
                </a:solidFill>
                <a:latin typeface="Arial"/>
              </a:rPr>
              <a:t>Trust and measurement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[8] Mayer, R.C., Davis, J.H., Schoorman, F.D. An Integrative Model of Organizational Trust. AMR 20(3), 709-734, 1995.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[9] Bartneck, C. et al. Measurement Instruments for Anthropomorphism, Animacy, Likeability... Int. J. Social Robotics 1(1), 71-81, 2009.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[10] Ho, C.-C., MacDorman, K.F. Revisiting the Uncanny Valley Theory. Computers in Human Behavior 26(6), 1508-1518, 2010.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[11] Canales, R., Roble, D., Neff, M. The Impact of Avatar Stylization on Trust. IEEE VR, 418-428, 2024.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[12] Dubosc, C. et al. Effect of Avatar Stylization and Facial Expression Intensity in Virtual Interactions. Virtual Reality 29(4), 2025.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[13] Gao, Y. et al. Trust in Virtual Agents. IEEE TVCG 31(5), 3623-3633, 2025.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[14] Tao, Z. et al. Impact of Virtual Avatar Appearance Realism. Frontiers in Psychology 16, 2025.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[15] Alipour, A., Hartmann, T., Alimardani, M. Would You Rely on an Eerie Agent? Computers in Human Behavior Reports 23, 2026.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[16] Demsar, J. Statistical Comparisons of Classifiers over Multiple Data Sets. JMLR 7, 1-30, 2006.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7588" y="1371600"/>
            <a:ext cx="3262274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1" i="0">
                <a:solidFill>
                  <a:srgbClr val="2E75B6"/>
                </a:solidFill>
                <a:latin typeface="Arial"/>
              </a:rPr>
              <a:t>Non-photorealistic rendering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[17] Lake, A. et al. Stylized Rendering Techniques for Scalable Real-Time 3D Animation. NPAR, 13-20, 2000.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[18] Barla, P., Thollot, J., Markosian, L. X-Toon: An Extended Toon Shader. NPAR, 127-132, 2006.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[19] Raskar, R., Cohen, M. Image Precision Silhouette Edges. I3D, 135-140, 1999.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[20] Isenberg, T. et al. A Developer's Guide to Silhouette Algorithms for Polygonal Models. IEEE CG&amp;A 23(4), 28-37, 2003.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[21] Marr, D., Hildreth, E. Theory of Edge Detection. Proc. R. Soc. B 207(1167), 187-217, 1980.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[22] Gonzalez, R.C., Woods, R.E. Digital Image Processing. Pearson, 2018.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[23] Kyprianidis, J.E., Kang, H., Dollner, J. Image and Video Abstraction by Anisotropic Kuwahara Filtering. CGF 28(7), 1955-1963, 2009.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[24] Lino Roshaan, M.K. AHEAD: Adaptive Hierarchical Edge Detection for Real-Time Artistic Stylization,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566928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Arial"/>
              </a:rPr>
              <a:t>Media credits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10972"/>
          </a:xfrm>
          <a:prstGeom prst="rect">
            <a:avLst/>
          </a:prstGeom>
          <a:solidFill>
            <a:srgbClr val="5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6327648"/>
            <a:ext cx="1028974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09090"/>
                </a:solidFill>
                <a:latin typeface="Arial"/>
              </a:rPr>
              <a:t>Abstraction Mechanisms for Virtual Avatars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1371600"/>
            <a:ext cx="2377440" cy="308610"/>
          </a:xfrm>
          <a:prstGeom prst="rect">
            <a:avLst/>
          </a:prstGeom>
          <a:solidFill>
            <a:srgbClr val="B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Video, slide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011680"/>
            <a:ext cx="4824831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Mark Zuckerberg: First Interview in the Metaverse</a:t>
            </a:r>
            <a:r>
              <a:rPr sz="1100" b="0" i="0">
                <a:solidFill>
                  <a:srgbClr val="000000"/>
                </a:solidFill>
                <a:latin typeface="Arial"/>
              </a:rPr>
              <a:t>, Lex Fridman Podcast #398. YouTube.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youtube.com/watch?v=MVYrJJNdrEg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Avaturn: Realistic 3D Avatars for Gaming from Photo</a:t>
            </a:r>
            <a:r>
              <a:rPr sz="1100" b="0" i="0">
                <a:solidFill>
                  <a:srgbClr val="000000"/>
                </a:solidFill>
                <a:latin typeface="Arial"/>
              </a:rPr>
              <a:t>. YouTube.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youtube.com/watch?v=rSb0Io92_R8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How Apple Vision Pro's New Spatial Persona Changes Everything</a:t>
            </a:r>
            <a:r>
              <a:rPr sz="1100" b="0" i="0">
                <a:solidFill>
                  <a:srgbClr val="000000"/>
                </a:solidFill>
                <a:latin typeface="Arial"/>
              </a:rPr>
              <a:t>. YouTube, 11 April 2024.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youtube.com/watch?v=H3PB2zA6Q-c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5349240"/>
            <a:ext cx="4824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09090"/>
                </a:solidFill>
                <a:latin typeface="Arial"/>
              </a:rPr>
              <a:t>Excerpts shown for scholarly illustration under the German right of quotation, section 51 UrhG.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5887" y="1371600"/>
            <a:ext cx="1554480" cy="308610"/>
          </a:xfrm>
          <a:prstGeom prst="rect">
            <a:avLst/>
          </a:prstGeom>
          <a:solidFill>
            <a:srgbClr val="B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Figures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2011680"/>
            <a:ext cx="4824831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Slide 3</a:t>
            </a:r>
            <a:r>
              <a:rPr sz="1100" b="0" i="0">
                <a:solidFill>
                  <a:srgbClr val="000000"/>
                </a:solidFill>
                <a:latin typeface="Arial"/>
              </a:rPr>
              <a:t>, uncanny valley curve: after Mori, reference [1].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Slides 4 and 5</a:t>
            </a:r>
            <a:r>
              <a:rPr sz="1100" b="0" i="0">
                <a:solidFill>
                  <a:srgbClr val="000000"/>
                </a:solidFill>
                <a:latin typeface="Arial"/>
              </a:rPr>
              <a:t>, figures and named results: references [1] to [24].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Slides 9, 10 and 13 to 20</a:t>
            </a:r>
            <a:r>
              <a:rPr sz="1100" b="0" i="0">
                <a:solidFill>
                  <a:srgbClr val="000000"/>
                </a:solidFill>
                <a:latin typeface="Arial"/>
              </a:rPr>
              <a:t>, and all backup slides: own work. Renders from the Unity project, plots from the study data.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Avatars</a:t>
            </a:r>
            <a:r>
              <a:rPr sz="1100" b="0" i="0">
                <a:solidFill>
                  <a:srgbClr val="000000"/>
                </a:solidFill>
                <a:latin typeface="Arial"/>
              </a:rPr>
              <a:t>: Avaturn, Meta Avatars SDK and Mixamo, used under their respective terms.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Logo</a:t>
            </a:r>
            <a:r>
              <a:rPr sz="1100" b="0" i="0">
                <a:solidFill>
                  <a:srgbClr val="000000"/>
                </a:solidFill>
                <a:latin typeface="Arial"/>
              </a:rPr>
              <a:t>: University of Konstanz.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30368" y="2331720"/>
            <a:ext cx="1737360" cy="411480"/>
          </a:xfrm>
          <a:prstGeom prst="rect">
            <a:avLst/>
          </a:prstGeom>
          <a:solidFill>
            <a:srgbClr val="B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000000"/>
                </a:solidFill>
                <a:latin typeface="Arial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0" y="3017520"/>
            <a:ext cx="5943600" cy="699516"/>
          </a:xfrm>
          <a:prstGeom prst="rect">
            <a:avLst/>
          </a:prstGeom>
          <a:solidFill>
            <a:srgbClr val="4EB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 i="0">
                <a:solidFill>
                  <a:srgbClr val="000000"/>
                </a:solidFill>
                <a:latin typeface="Arial"/>
              </a:rPr>
              <a:t>Supporting Material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10972"/>
          </a:xfrm>
          <a:prstGeom prst="rect">
            <a:avLst/>
          </a:prstGeom>
          <a:solidFill>
            <a:srgbClr val="5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566928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Arial"/>
              </a:rPr>
              <a:t>Visual quality assessment of all eight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10972"/>
          </a:xfrm>
          <a:prstGeom prst="rect">
            <a:avLst/>
          </a:prstGeom>
          <a:solidFill>
            <a:srgbClr val="5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6327648"/>
            <a:ext cx="1028974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09090"/>
                </a:solidFill>
                <a:latin typeface="Arial"/>
              </a:rPr>
              <a:t>Abstraction Mechanisms for Virtual Avatars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50976" y="1417320"/>
          <a:ext cx="112014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03120"/>
                <a:gridCol w="1554480"/>
                <a:gridCol w="2286000"/>
                <a:gridCol w="2286000"/>
                <a:gridCol w="1051560"/>
              </a:tblGrid>
              <a:tr h="375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Technique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Facial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Temporal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Artefacts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Abstraction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Arial"/>
                        </a:rPr>
                        <a:t>Candidate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V1 Outline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after tuning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E75B6"/>
                          </a:solidFill>
                          <a:latin typeface="Arial"/>
                        </a:rPr>
                        <a:t>not alone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V2 Toon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E75B6"/>
                          </a:solidFill>
                          <a:latin typeface="Arial"/>
                        </a:rPr>
                        <a:t>no interior lines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V2.2 X-Toon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manual mode chosen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V3 Normal edge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E75B6"/>
                          </a:solidFill>
                          <a:latin typeface="Arial"/>
                        </a:rPr>
                        <a:t>landmarks missed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V4 Sobel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after tuning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after tuning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after preprocessing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V4.2 Gauss Sobel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E75B6"/>
                          </a:solidFill>
                          <a:latin typeface="Arial"/>
                        </a:rPr>
                        <a:t>no gain over V4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after tuning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V5 Hierarchical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E75B6"/>
                          </a:solidFill>
                          <a:latin typeface="Arial"/>
                        </a:rPr>
                        <a:t>segments unclear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E75B6"/>
                          </a:solidFill>
                          <a:latin typeface="Arial"/>
                        </a:rPr>
                        <a:t>nose bridge artefact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V6 Kuwahara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E75B6"/>
                          </a:solidFill>
                          <a:latin typeface="Arial"/>
                        </a:rPr>
                        <a:t>fails at large radius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50976" y="5074920"/>
            <a:ext cx="102897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909090"/>
                </a:solidFill>
                <a:latin typeface="Arial"/>
              </a:rPr>
              <a:t>Five of the eight became candidates for the composite. The parameter adjustment study then removed V5 and V6, leaving V1, V2.2 and V4.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566928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Arial"/>
              </a:rPr>
              <a:t>All variants shown in the parameter adjustment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10972"/>
          </a:xfrm>
          <a:prstGeom prst="rect">
            <a:avLst/>
          </a:prstGeom>
          <a:solidFill>
            <a:srgbClr val="5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6327648"/>
            <a:ext cx="1028974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09090"/>
                </a:solidFill>
                <a:latin typeface="Arial"/>
              </a:rPr>
              <a:t>Abstraction Mechanisms for Virtual Avatars</a:t>
            </a:r>
          </a:p>
        </p:txBody>
      </p:sp>
      <p:pic>
        <p:nvPicPr>
          <p:cNvPr id="5" name="Picture 4" descr="prestudy_all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162" y="1325880"/>
            <a:ext cx="517737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566928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Arial"/>
              </a:rPr>
              <a:t>Final composite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10972"/>
          </a:xfrm>
          <a:prstGeom prst="rect">
            <a:avLst/>
          </a:prstGeom>
          <a:solidFill>
            <a:srgbClr val="5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6327648"/>
            <a:ext cx="1028974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09090"/>
                </a:solidFill>
                <a:latin typeface="Arial"/>
              </a:rPr>
              <a:t>Abstraction Mechanisms for Virtual Avatars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50976" y="1417320"/>
          <a:ext cx="6400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2743200"/>
              </a:tblGrid>
              <a:tr h="35433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Outline width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0.003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R2 Borda winner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Depth offset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R2 Borda winner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Inner line threshold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0.05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R1 appeal tiebreaker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Shadow strength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R3 appeal tiebreaker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Detail bias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R3 appeal tiebreaker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Kuwahara filter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E75B6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R4 excluded (p = .003)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Hierarchical layer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E75B6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R5 excluded (p &lt; .001)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08975" y="1554480"/>
            <a:ext cx="343174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Three of the seven values came from a separate visual appeal question, since no configuration in those rounds was statistically ahead of its runner-up.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566928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Arial"/>
              </a:rPr>
              <a:t>Eeriness against likeability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10972"/>
          </a:xfrm>
          <a:prstGeom prst="rect">
            <a:avLst/>
          </a:prstGeom>
          <a:solidFill>
            <a:srgbClr val="5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6327648"/>
            <a:ext cx="1028974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09090"/>
                </a:solidFill>
                <a:latin typeface="Arial"/>
              </a:rPr>
              <a:t>Abstraction Mechanisms for Virtual Avatars</a:t>
            </a:r>
          </a:p>
        </p:txBody>
      </p:sp>
      <p:pic>
        <p:nvPicPr>
          <p:cNvPr id="5" name="Picture 4" descr="fig_h3_lik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584" y="1325880"/>
            <a:ext cx="9750525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0976" y="5120640"/>
            <a:ext cx="102897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Within participants the two correlate at </a:t>
            </a:r>
            <a:r>
              <a:rPr sz="1200" b="1" i="0">
                <a:solidFill>
                  <a:srgbClr val="2E75B6"/>
                </a:solidFill>
                <a:latin typeface="Arial"/>
              </a:rPr>
              <a:t>r = -.72</a:t>
            </a:r>
            <a:r>
              <a:rPr sz="1200" b="0" i="0">
                <a:solidFill>
                  <a:srgbClr val="000000"/>
                </a:solidFill>
                <a:latin typeface="Arial"/>
              </a:rPr>
              <a:t>, sharing 52% of their variance. Entering both in one model absorbs most of the eeriness effect: it survives on ability (b = -0.50, p = .024) but not benevolence (p = .075) or integrity (p = .273), while likeability holds on all three.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" y="566928"/>
            <a:ext cx="1028974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Arial"/>
              </a:rPr>
              <a:t>Full statistics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10972"/>
          </a:xfrm>
          <a:prstGeom prst="rect">
            <a:avLst/>
          </a:prstGeom>
          <a:solidFill>
            <a:srgbClr val="5CC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6327648"/>
            <a:ext cx="1028974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09090"/>
                </a:solidFill>
                <a:latin typeface="Arial"/>
              </a:rPr>
              <a:t>Abstraction Mechanisms for Virtual Avatars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50976" y="1371600"/>
          <a:ext cx="10287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023360"/>
                <a:gridCol w="1920240"/>
                <a:gridCol w="1920240"/>
                <a:gridCol w="685800"/>
              </a:tblGrid>
              <a:tr h="3505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Subscale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Omnibus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C1 vs C2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C1 vs C3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C2 vs C3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Likeability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F(2,80)=26.85, p&lt;.001, eta2p=.40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p&lt;.001, g=0.92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p&lt;.001, g=1.02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p=.54, g=0.08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Eeriness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F(2,80)=20.39, p&lt;.001, eta2p=.34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p&lt;.001, g=0.98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p&lt;.001, g=0.98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p=.66, g=0.07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Ability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F(2,80)=10.91, p&lt;.001, eta2p=.21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p=.004, g=0.53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p&lt;.001, g=0.75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p=.21, g=0.20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Benevolence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F(2,80)=14.31, p&lt;.001, eta2p=.26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p&lt;.001, g=0.59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p&lt;.001, g=0.79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p=.18, g=0.19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Integrity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F(2,80)=12.47, p&lt;.001, eta2p=.24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p=.001, g=0.66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p&lt;.001, g=0.80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p=.27, g=0.16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50976" y="3749039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822960"/>
                <a:gridCol w="1554480"/>
                <a:gridCol w="822960"/>
              </a:tblGrid>
              <a:tr h="33528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Subscale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Position F(2,80)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Version F(2,38)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73152" marR="45720" marT="27432" marB="27432" anchor="ctr">
                    <a:solidFill>
                      <a:srgbClr val="B4DEE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Likeability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3.04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.054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7.07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.002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Eeriness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2.47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.091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5.57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.008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Ability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1.32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.274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1.23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.304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Benevolence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2.10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.130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1.26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.296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Integrity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1.72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.186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2.04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.144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08975" y="3749039"/>
            <a:ext cx="2651760" cy="246888"/>
          </a:xfrm>
          <a:prstGeom prst="rect">
            <a:avLst/>
          </a:prstGeom>
          <a:solidFill>
            <a:srgbClr val="B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Intraclass correlations, H3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8975" y="4251960"/>
            <a:ext cx="343174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Eeriness models: .48 to .57.  Likeability models: .57 to .63.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Half or more of the variance in each trust subscale sits between participants rather than within them, which is consistent with large individual differences in general trustingness.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